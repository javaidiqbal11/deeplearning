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310896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51560" y="1371600"/>
            <a:ext cx="10088575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16A1C"/>
                </a:solidFill>
                <a:latin typeface="Calibri"/>
              </a:rPr>
              <a:t>DL-601  ·  Part III - Vision Systems and Deployment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828800"/>
            <a:ext cx="1008857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5A6375"/>
                </a:solidFill>
                <a:latin typeface="Calibri"/>
              </a:rPr>
              <a:t>Lecture 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286000"/>
            <a:ext cx="9814255" cy="1737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1000"/>
              </a:spcAft>
            </a:pPr>
            <a:r>
              <a:rPr sz="4000" b="1" i="0">
                <a:solidFill>
                  <a:srgbClr val="1A1F2B"/>
                </a:solidFill>
                <a:latin typeface="Calibri"/>
              </a:rPr>
              <a:t>Object Detection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4069080"/>
            <a:ext cx="9814255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1">
                <a:solidFill>
                  <a:srgbClr val="5A6375"/>
                </a:solidFill>
                <a:latin typeface="Calibri"/>
              </a:rPr>
              <a:t>From 'what is in this image' to 'what, and exactly where'.</a:t>
            </a:r>
          </a:p>
        </p:txBody>
      </p:sp>
      <p:sp>
        <p:nvSpPr>
          <p:cNvPr id="8" name="Rectangle 7"/>
          <p:cNvSpPr/>
          <p:nvPr/>
        </p:nvSpPr>
        <p:spPr>
          <a:xfrm>
            <a:off x="1051560" y="4846320"/>
            <a:ext cx="18288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5212080"/>
            <a:ext cx="10088575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5A6375"/>
                </a:solidFill>
                <a:latin typeface="Calibri"/>
              </a:rPr>
              <a:t>Deep Learning — Foundations, Computer Vision and Production Systems</a:t>
            </a:r>
          </a:p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5A6375"/>
                </a:solidFill>
                <a:latin typeface="Calibri"/>
              </a:rPr>
              <a:t>Senior AI Engineer, Course Instructor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BY THE END OF THIS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Learning objectives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783080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828800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16736" y="1746504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Define the detection task and the role of IoU, non-maximum suppression and mean average precision.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715768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761488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16736" y="2679192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Contrast two-stage (R-CNN family) with one-stage (YOLO, SSD, RetinaNet) detectors.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648456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694176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16736" y="3611880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a single-scale anchor-free detector with classification and box-regression heads.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581144"/>
            <a:ext cx="384048" cy="384048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8" y="4626864"/>
            <a:ext cx="27432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16736" y="4544568"/>
            <a:ext cx="10216591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Compute mAP correctly and interpret a precision-recall curve.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WHERE WE ARE GOING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44168" y="178308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The task and why it is harder</a:t>
            </a:r>
          </a:p>
        </p:txBody>
      </p:sp>
      <p:sp>
        <p:nvSpPr>
          <p:cNvPr id="7" name="Rectangle 6"/>
          <p:cNvSpPr/>
          <p:nvPr/>
        </p:nvSpPr>
        <p:spPr>
          <a:xfrm>
            <a:off x="658368" y="226771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68296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44168" y="2386584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Intersection over Union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2871216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2971800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2990088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Two-stage detectors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8368" y="3474720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3575304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593592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One-stage detectors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4078224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4178808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44168" y="4197096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Non-maximum suppression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" y="4681728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" y="4782312"/>
            <a:ext cx="502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C16A1C"/>
                </a:solidFill>
                <a:latin typeface="Calibr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44168" y="4800600"/>
            <a:ext cx="101891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800" b="0" i="0">
                <a:solidFill>
                  <a:srgbClr val="1A1F2B"/>
                </a:solidFill>
                <a:latin typeface="Calibri"/>
              </a:rPr>
              <a:t>Losses and evaluation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58368" y="5285232"/>
            <a:ext cx="10874959" cy="952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368" y="5495544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1">
                <a:solidFill>
                  <a:srgbClr val="5A6375"/>
                </a:solidFill>
                <a:latin typeface="Calibri"/>
              </a:rPr>
              <a:t>Then: hands-on lab  →  shapes_det.npz, shapes_det_annotations.json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The task and why it is harder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The task and why it is harder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Variable number of outputs per image - a classification head cannot express that.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Objects appear at many scales and positions, and they overlap.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Extreme foreground/background imbalance: most locations contain nothing.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Intersection over Union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Intersection over Union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IoU = area of overlap / area of union. The universal matching criterion.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A prediction counts as a true positive at IoU &gt;= threshold, conventionally 0.5.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COCO-style mAP averages over IoU thresholds 0.5 to 0.95 in steps of 0.05 - a much stricter metric.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Two-stage detectors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Two-stage detectors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R-CNN: region proposals, then a CNN per region. Accurate and extremely slow.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Fast R-CNN: one CNN pass over the image, RoI pooling per proposal.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Faster R-CNN: the Region Proposal Network makes proposals learnable and end-to-end.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Mask R-CNN adds a mask head and RoIAlign, fixing RoI pooling's quantisation error.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One-stage detectors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One-stage detectors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753465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YOLO: a single pass predicts boxes and classes on a grid. Fast enough for video.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73121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573121"/>
            <a:ext cx="44450" cy="753465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64561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SSD: predictions from multiple feature-map scales.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491179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491179"/>
            <a:ext cx="44450" cy="753465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582619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RetinaNet: focal loss down-weights easy negatives and closes most of the accuracy gap.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409236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4409236"/>
            <a:ext cx="44450" cy="753465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500676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Anchor-free (FCOS, CenterNet): predict centre and extent directly, no anchor tuning.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8368" y="5327294"/>
            <a:ext cx="10874959" cy="753465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8368" y="5327294"/>
            <a:ext cx="44450" cy="753465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5418734"/>
            <a:ext cx="10417759" cy="60716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DETR: set prediction with a Transformer and bipartite matching - no NMS at all.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Non-maximum suppression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Non-maximum suppression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Detectors emit many overlapping boxes for one object.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802636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2802636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894076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NMS: sort by score, keep the best, delete anything overlapping it above the IoU threshold, repeat.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3950208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3950208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041648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Class-wise NMS avoids suppressing a genuinely overlapping object of a different class.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5097780"/>
            <a:ext cx="10874959" cy="9829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5097780"/>
            <a:ext cx="44450" cy="98298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189220"/>
            <a:ext cx="10417759" cy="8366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Soft-NMS decays scores instead of deleting, which helps in crowded scenes.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280160" y="2606040"/>
            <a:ext cx="9631375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FFFFFF"/>
                </a:solidFill>
                <a:latin typeface="Calibri"/>
              </a:rPr>
              <a:t>SECTION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80160" y="3017520"/>
            <a:ext cx="9631375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Losses and evaluation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LECTURE 10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Losses and evaluation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46504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Classification: cross-entropy or focal loss, over grid locations.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3185160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58368" y="3185160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76600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Box regression: smooth L1, or IoU-family losses (GIoU, DIoU, CIoU) which optimise the metric directly.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" y="4715256"/>
            <a:ext cx="10874959" cy="1365504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58368" y="4715256"/>
            <a:ext cx="44450" cy="13655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806696"/>
            <a:ext cx="10417759" cy="1219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900" b="0" i="0">
                <a:solidFill>
                  <a:srgbClr val="1A1F2B"/>
                </a:solidFill>
                <a:latin typeface="Calibri"/>
              </a:rPr>
              <a:t>mAP: average precision per class, averaged over classes. Read the PR curve, not only the summary number.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NOTEBOOK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Hands-on lab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58368" y="1655064"/>
            <a:ext cx="10874959" cy="1737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655064"/>
            <a:ext cx="50800" cy="173736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0976" y="1856232"/>
            <a:ext cx="10289743" cy="1371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700" b="0" i="0">
                <a:solidFill>
                  <a:srgbClr val="1A1F2B"/>
                </a:solidFill>
                <a:latin typeface="Calibri"/>
              </a:rPr>
              <a:t>Implement IoU and NMS from scratch with tests, build a single-scale anchor-free detector (a centre heatmap plus a size regression head) on the 96x96 multi-shape scenes, train it, decode its output, and implement mAP@0.5 to evaluate it properly.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3666744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Notebook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121408" y="3666744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notebooks/L10_Object_Detection.ipynb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4142232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Data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21408" y="4142232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shapes_det.npz, shapes_det_annotations.json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4617720"/>
            <a:ext cx="1371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Helpers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21408" y="4617720"/>
            <a:ext cx="941191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A1F2B"/>
                </a:solidFill>
                <a:latin typeface="Consolas"/>
              </a:rPr>
              <a:t>from dlcourse import load_shapes, train, evaluate, show_grid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DUE BEFORE THE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Your tasks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655064"/>
            <a:ext cx="54864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C16A1C"/>
                </a:solidFill>
                <a:latin typeface="Calibri"/>
              </a:rPr>
              <a:t>CORE — all 6 required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20391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1.  IoU, vectorised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45059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2.  Non-maximum suppression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" y="286207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3.  Build the detector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327355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4.  Decode predictions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" y="368503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5.  mean Average Precision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40965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A1F2B"/>
                </a:solidFill>
                <a:latin typeface="Calibri"/>
              </a:rPr>
              <a:t>6.  Confidence threshold sweep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01968" y="1655064"/>
            <a:ext cx="493776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5A6375"/>
                </a:solidFill>
                <a:latin typeface="Calibri"/>
              </a:rPr>
              <a:t>STRETCH — 2 optional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1968" y="203911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1.  Focal loss ablation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2450592"/>
            <a:ext cx="4937760" cy="38404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5A6375"/>
                </a:solidFill>
                <a:latin typeface="Calibri"/>
              </a:rPr>
              <a:t>2.  Multi-scale predictions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5897880"/>
            <a:ext cx="10874959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300" b="0" i="1">
                <a:solidFill>
                  <a:srgbClr val="5A6375"/>
                </a:solidFill>
                <a:latin typeface="Calibri"/>
              </a:rPr>
              <a:t>Full instructions: tasks/Lecture_10_Tasks.md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GO DEEPER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Reading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58368" y="1764792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9848" y="1764792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Ren et al. (2015), Faster R-CNN.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2331720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331720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Redmon et al. (2016), You Only Look Once.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8368" y="2898648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9848" y="2898648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Lin et al. (2017), Focal Loss for Dense Object Detection.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465576"/>
            <a:ext cx="3657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C16A1C"/>
                </a:solidFill>
                <a:latin typeface="Calibri"/>
              </a:rPr>
              <a:t>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9848" y="3465576"/>
            <a:ext cx="10463479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Tian et al. (2019), FCOS: Fully Convolutional One-Stage Object Detection.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502920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C16A1C"/>
                </a:solidFill>
                <a:latin typeface="Calibri"/>
              </a:rPr>
              <a:t>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813816"/>
            <a:ext cx="10874959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1A1F2B"/>
                </a:solidFill>
                <a:latin typeface="Calibri"/>
              </a:rPr>
              <a:t>What to take away</a:t>
            </a:r>
          </a:p>
        </p:txBody>
      </p:sp>
      <p:sp>
        <p:nvSpPr>
          <p:cNvPr id="5" name="Rectangle 4"/>
          <p:cNvSpPr/>
          <p:nvPr/>
        </p:nvSpPr>
        <p:spPr>
          <a:xfrm>
            <a:off x="658368" y="1380744"/>
            <a:ext cx="1371600" cy="44450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58368" y="1883664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42416" y="170078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Variable number of outputs per image - a classification head cannot express that.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2596896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42416" y="2414016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IoU = area of overlap / area of union. The universal matching criterion.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58368" y="3310128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42416" y="3127248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R-CNN: region proposals, then a CNN per region. Accurate and extremely slow.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58368" y="4023360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" y="3840480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YOLO: a single pass predicts boxes and classes on a grid. Fast enough for video.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8368" y="4736592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42416" y="4553712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Detectors emit many overlapping boxes for one object.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58368" y="5449824"/>
            <a:ext cx="146304" cy="146304"/>
          </a:xfrm>
          <a:prstGeom prst="rect">
            <a:avLst/>
          </a:prstGeom>
          <a:solidFill>
            <a:srgbClr val="C16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42416" y="5266944"/>
            <a:ext cx="10490911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600" b="0" i="0">
                <a:solidFill>
                  <a:srgbClr val="1A1F2B"/>
                </a:solidFill>
                <a:latin typeface="Calibri"/>
              </a:rPr>
              <a:t>Classification: cross-entropy or focal loss, over grid locations.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5852160"/>
            <a:ext cx="10874959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C16A1C"/>
                </a:solidFill>
                <a:latin typeface="Calibri"/>
              </a:rPr>
              <a:t>Next — Lecture 11: Semantic Segmentation and Dense Prediction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6382512"/>
            <a:ext cx="10874959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spcBef>
                <a:spcPts val="0"/>
              </a:spcBef>
              <a:spcAft>
                <a:spcPts val="600"/>
              </a:spcAft>
            </a:pPr>
            <a:r>
              <a:rPr sz="1000" b="0" i="0">
                <a:solidFill>
                  <a:srgbClr val="5A6375"/>
                </a:solidFill>
                <a:latin typeface="Calibri"/>
              </a:rPr>
              <a:t>DL-601  |  Lecture 10  |  Part III - Vision Systems and Deployment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