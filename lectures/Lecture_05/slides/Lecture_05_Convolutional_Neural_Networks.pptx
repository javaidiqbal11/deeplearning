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6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310896" cy="6858000"/>
          </a:xfrm>
          <a:prstGeom prst="rect">
            <a:avLst/>
          </a:prstGeom>
          <a:solidFill>
            <a:srgbClr val="1B86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51560" y="1371600"/>
            <a:ext cx="10088575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300" b="1" i="0">
                <a:solidFill>
                  <a:srgbClr val="1B866B"/>
                </a:solidFill>
                <a:latin typeface="Calibri"/>
              </a:rPr>
              <a:t>DL-601  ·  Part II - Convolutional Vision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" y="1828800"/>
            <a:ext cx="10088575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700" b="0" i="0">
                <a:solidFill>
                  <a:srgbClr val="5A6375"/>
                </a:solidFill>
                <a:latin typeface="Calibri"/>
              </a:rPr>
              <a:t>Lecture 05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51560" y="2286000"/>
            <a:ext cx="9814255" cy="1737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1000"/>
              </a:spcAft>
            </a:pPr>
            <a:r>
              <a:rPr sz="4000" b="1" i="0">
                <a:solidFill>
                  <a:srgbClr val="1A1F2B"/>
                </a:solidFill>
                <a:latin typeface="Calibri"/>
              </a:rPr>
              <a:t>Convolutional Neural Networks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1560" y="4069080"/>
            <a:ext cx="9814255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900" b="0" i="1">
                <a:solidFill>
                  <a:srgbClr val="5A6375"/>
                </a:solidFill>
                <a:latin typeface="Calibri"/>
              </a:rPr>
              <a:t>The right inductive bias for images, derived rather than asserted.</a:t>
            </a:r>
          </a:p>
        </p:txBody>
      </p:sp>
      <p:sp>
        <p:nvSpPr>
          <p:cNvPr id="8" name="Rectangle 7"/>
          <p:cNvSpPr/>
          <p:nvPr/>
        </p:nvSpPr>
        <p:spPr>
          <a:xfrm>
            <a:off x="1051560" y="4846320"/>
            <a:ext cx="1828800" cy="44450"/>
          </a:xfrm>
          <a:prstGeom prst="rect">
            <a:avLst/>
          </a:prstGeom>
          <a:solidFill>
            <a:srgbClr val="1B86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51560" y="5212080"/>
            <a:ext cx="10088575" cy="914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300" b="0" i="0">
                <a:solidFill>
                  <a:srgbClr val="5A6375"/>
                </a:solidFill>
                <a:latin typeface="Calibri"/>
              </a:rPr>
              <a:t>Deep Learning — Foundations, Computer Vision and Production Systems</a:t>
            </a:r>
          </a:p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200" b="0" i="0">
                <a:solidFill>
                  <a:srgbClr val="5A6375"/>
                </a:solidFill>
                <a:latin typeface="Calibri"/>
              </a:rPr>
              <a:t>Senior AI Engineer, Course Instructor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58368" y="502920"/>
            <a:ext cx="10874959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100" b="1" i="0">
                <a:solidFill>
                  <a:srgbClr val="1B866B"/>
                </a:solidFill>
                <a:latin typeface="Calibri"/>
              </a:rPr>
              <a:t>BY THE END OF THIS LECTURE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58368" y="813816"/>
            <a:ext cx="10874959" cy="685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3000" b="1" i="0">
                <a:solidFill>
                  <a:srgbClr val="1A1F2B"/>
                </a:solidFill>
                <a:latin typeface="Calibri"/>
              </a:rPr>
              <a:t>Learning objectives</a:t>
            </a:r>
          </a:p>
        </p:txBody>
      </p:sp>
      <p:sp>
        <p:nvSpPr>
          <p:cNvPr id="4" name="Rectangle 3"/>
          <p:cNvSpPr/>
          <p:nvPr/>
        </p:nvSpPr>
        <p:spPr>
          <a:xfrm>
            <a:off x="658368" y="1380744"/>
            <a:ext cx="1371600" cy="44450"/>
          </a:xfrm>
          <a:prstGeom prst="rect">
            <a:avLst/>
          </a:prstGeom>
          <a:solidFill>
            <a:srgbClr val="1B86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58368" y="1783080"/>
            <a:ext cx="384048" cy="384048"/>
          </a:xfrm>
          <a:prstGeom prst="rect">
            <a:avLst/>
          </a:prstGeom>
          <a:solidFill>
            <a:srgbClr val="1B86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49808" y="1828800"/>
            <a:ext cx="27432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600"/>
              </a:spcAft>
            </a:pPr>
            <a:r>
              <a:rPr sz="1500" b="1" i="0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16736" y="1746504"/>
            <a:ext cx="10216591" cy="822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700" b="0" i="0">
                <a:solidFill>
                  <a:srgbClr val="1A1F2B"/>
                </a:solidFill>
                <a:latin typeface="Calibri"/>
              </a:rPr>
              <a:t>Explain convolution as local connectivity plus weight sharing, and count the parameters it saves.</a:t>
            </a:r>
          </a:p>
        </p:txBody>
      </p:sp>
      <p:sp>
        <p:nvSpPr>
          <p:cNvPr id="8" name="Rectangle 7"/>
          <p:cNvSpPr/>
          <p:nvPr/>
        </p:nvSpPr>
        <p:spPr>
          <a:xfrm>
            <a:off x="658368" y="2715768"/>
            <a:ext cx="384048" cy="384048"/>
          </a:xfrm>
          <a:prstGeom prst="rect">
            <a:avLst/>
          </a:prstGeom>
          <a:solidFill>
            <a:srgbClr val="1B86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49808" y="2761488"/>
            <a:ext cx="27432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600"/>
              </a:spcAft>
            </a:pPr>
            <a:r>
              <a:rPr sz="1500" b="1" i="0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16736" y="2679192"/>
            <a:ext cx="10216591" cy="822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700" b="0" i="0">
                <a:solidFill>
                  <a:srgbClr val="1A1F2B"/>
                </a:solidFill>
                <a:latin typeface="Calibri"/>
              </a:rPr>
              <a:t>Compute output shapes for any kernel, stride, padding and dilation without guessing.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58368" y="3648456"/>
            <a:ext cx="384048" cy="384048"/>
          </a:xfrm>
          <a:prstGeom prst="rect">
            <a:avLst/>
          </a:prstGeom>
          <a:solidFill>
            <a:srgbClr val="1B86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49808" y="3694176"/>
            <a:ext cx="27432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600"/>
              </a:spcAft>
            </a:pPr>
            <a:r>
              <a:rPr sz="1500" b="1" i="0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316736" y="3611880"/>
            <a:ext cx="10216591" cy="822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700" b="0" i="0">
                <a:solidFill>
                  <a:srgbClr val="1A1F2B"/>
                </a:solidFill>
                <a:latin typeface="Calibri"/>
              </a:rPr>
              <a:t>Implement 2D convolution and max pooling from scratch, then match PyTorch's result.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58368" y="4581144"/>
            <a:ext cx="384048" cy="384048"/>
          </a:xfrm>
          <a:prstGeom prst="rect">
            <a:avLst/>
          </a:prstGeom>
          <a:solidFill>
            <a:srgbClr val="1B86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49808" y="4626864"/>
            <a:ext cx="27432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600"/>
              </a:spcAft>
            </a:pPr>
            <a:r>
              <a:rPr sz="1500" b="1" i="0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316736" y="4544568"/>
            <a:ext cx="10216591" cy="822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700" b="0" i="0">
                <a:solidFill>
                  <a:srgbClr val="1A1F2B"/>
                </a:solidFill>
                <a:latin typeface="Calibri"/>
              </a:rPr>
              <a:t>Reason about receptive field growth and design a CNN whose receptive field covers the input.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58368" y="6382512"/>
            <a:ext cx="10874959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000" b="0" i="0">
                <a:solidFill>
                  <a:srgbClr val="5A6375"/>
                </a:solidFill>
                <a:latin typeface="Calibri"/>
              </a:rPr>
              <a:t>DL-601  |  Lecture 05  |  Part II - Convolutional Vision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58368" y="502920"/>
            <a:ext cx="10874959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100" b="1" i="0">
                <a:solidFill>
                  <a:srgbClr val="1B866B"/>
                </a:solidFill>
                <a:latin typeface="Calibri"/>
              </a:rPr>
              <a:t>WHERE WE ARE GOING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58368" y="813816"/>
            <a:ext cx="10874959" cy="685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3000" b="1" i="0">
                <a:solidFill>
                  <a:srgbClr val="1A1F2B"/>
                </a:solidFill>
                <a:latin typeface="Calibri"/>
              </a:rPr>
              <a:t>Agenda</a:t>
            </a:r>
          </a:p>
        </p:txBody>
      </p:sp>
      <p:sp>
        <p:nvSpPr>
          <p:cNvPr id="4" name="Rectangle 3"/>
          <p:cNvSpPr/>
          <p:nvPr/>
        </p:nvSpPr>
        <p:spPr>
          <a:xfrm>
            <a:off x="658368" y="1380744"/>
            <a:ext cx="1371600" cy="44450"/>
          </a:xfrm>
          <a:prstGeom prst="rect">
            <a:avLst/>
          </a:prstGeom>
          <a:solidFill>
            <a:srgbClr val="1B86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58368" y="1728216"/>
            <a:ext cx="502920" cy="53035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700" b="1" i="0">
                <a:solidFill>
                  <a:srgbClr val="1B866B"/>
                </a:solidFill>
                <a:latin typeface="Calibri"/>
              </a:rPr>
              <a:t>01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44168" y="1728216"/>
            <a:ext cx="10189159" cy="53035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800" b="0" i="0">
                <a:solidFill>
                  <a:srgbClr val="1A1F2B"/>
                </a:solidFill>
                <a:latin typeface="Calibri"/>
              </a:rPr>
              <a:t>Why not just use an MLP</a:t>
            </a:r>
          </a:p>
        </p:txBody>
      </p:sp>
      <p:sp>
        <p:nvSpPr>
          <p:cNvPr id="7" name="Rectangle 6"/>
          <p:cNvSpPr/>
          <p:nvPr/>
        </p:nvSpPr>
        <p:spPr>
          <a:xfrm>
            <a:off x="658368" y="2276856"/>
            <a:ext cx="10874959" cy="9525"/>
          </a:xfrm>
          <a:prstGeom prst="rect">
            <a:avLst/>
          </a:prstGeom>
          <a:solidFill>
            <a:srgbClr val="F4F6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58368" y="2331720"/>
            <a:ext cx="502920" cy="53035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700" b="1" i="0">
                <a:solidFill>
                  <a:srgbClr val="1B866B"/>
                </a:solidFill>
                <a:latin typeface="Calibri"/>
              </a:rPr>
              <a:t>02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44168" y="2331720"/>
            <a:ext cx="10189159" cy="53035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800" b="0" i="0">
                <a:solidFill>
                  <a:srgbClr val="1A1F2B"/>
                </a:solidFill>
                <a:latin typeface="Calibri"/>
              </a:rPr>
              <a:t>The two ideas</a:t>
            </a:r>
          </a:p>
        </p:txBody>
      </p:sp>
      <p:sp>
        <p:nvSpPr>
          <p:cNvPr id="10" name="Rectangle 9"/>
          <p:cNvSpPr/>
          <p:nvPr/>
        </p:nvSpPr>
        <p:spPr>
          <a:xfrm>
            <a:off x="658368" y="2880360"/>
            <a:ext cx="10874959" cy="9525"/>
          </a:xfrm>
          <a:prstGeom prst="rect">
            <a:avLst/>
          </a:prstGeom>
          <a:solidFill>
            <a:srgbClr val="F4F6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58368" y="2935224"/>
            <a:ext cx="502920" cy="53035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700" b="1" i="0">
                <a:solidFill>
                  <a:srgbClr val="1B866B"/>
                </a:solidFill>
                <a:latin typeface="Calibri"/>
              </a:rPr>
              <a:t>03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344168" y="2935224"/>
            <a:ext cx="10189159" cy="53035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800" b="0" i="0">
                <a:solidFill>
                  <a:srgbClr val="1A1F2B"/>
                </a:solidFill>
                <a:latin typeface="Calibri"/>
              </a:rPr>
              <a:t>Convolution arithmetic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58368" y="3483864"/>
            <a:ext cx="10874959" cy="9525"/>
          </a:xfrm>
          <a:prstGeom prst="rect">
            <a:avLst/>
          </a:prstGeom>
          <a:solidFill>
            <a:srgbClr val="F4F6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58368" y="3538728"/>
            <a:ext cx="502920" cy="53035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700" b="1" i="0">
                <a:solidFill>
                  <a:srgbClr val="1B866B"/>
                </a:solidFill>
                <a:latin typeface="Calibri"/>
              </a:rPr>
              <a:t>04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44168" y="3538728"/>
            <a:ext cx="10189159" cy="53035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800" b="0" i="0">
                <a:solidFill>
                  <a:srgbClr val="1A1F2B"/>
                </a:solidFill>
                <a:latin typeface="Calibri"/>
              </a:rPr>
              <a:t>Pooling and downsampling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58368" y="4087368"/>
            <a:ext cx="10874959" cy="9525"/>
          </a:xfrm>
          <a:prstGeom prst="rect">
            <a:avLst/>
          </a:prstGeom>
          <a:solidFill>
            <a:srgbClr val="F4F6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58368" y="4142232"/>
            <a:ext cx="502920" cy="53035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700" b="1" i="0">
                <a:solidFill>
                  <a:srgbClr val="1B866B"/>
                </a:solidFill>
                <a:latin typeface="Calibri"/>
              </a:rPr>
              <a:t>05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344168" y="4142232"/>
            <a:ext cx="10189159" cy="53035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800" b="0" i="0">
                <a:solidFill>
                  <a:srgbClr val="1A1F2B"/>
                </a:solidFill>
                <a:latin typeface="Calibri"/>
              </a:rPr>
              <a:t>Receptive field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58368" y="4690872"/>
            <a:ext cx="10874959" cy="9525"/>
          </a:xfrm>
          <a:prstGeom prst="rect">
            <a:avLst/>
          </a:prstGeom>
          <a:solidFill>
            <a:srgbClr val="F4F6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58368" y="4745736"/>
            <a:ext cx="502920" cy="53035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700" b="1" i="0">
                <a:solidFill>
                  <a:srgbClr val="1B866B"/>
                </a:solidFill>
                <a:latin typeface="Calibri"/>
              </a:rPr>
              <a:t>06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344168" y="4745736"/>
            <a:ext cx="10189159" cy="53035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800" b="0" i="0">
                <a:solidFill>
                  <a:srgbClr val="1A1F2B"/>
                </a:solidFill>
                <a:latin typeface="Calibri"/>
              </a:rPr>
              <a:t>What the filters learn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58368" y="5294376"/>
            <a:ext cx="10874959" cy="9525"/>
          </a:xfrm>
          <a:prstGeom prst="rect">
            <a:avLst/>
          </a:prstGeom>
          <a:solidFill>
            <a:srgbClr val="F4F6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58368" y="5422392"/>
            <a:ext cx="10874959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300" b="0" i="1">
                <a:solidFill>
                  <a:srgbClr val="5A6375"/>
                </a:solidFill>
                <a:latin typeface="Calibri"/>
              </a:rPr>
              <a:t>Then: hands-on lab  →  shapes_32.npz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58368" y="6382512"/>
            <a:ext cx="10874959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000" b="0" i="0">
                <a:solidFill>
                  <a:srgbClr val="5A6375"/>
                </a:solidFill>
                <a:latin typeface="Calibri"/>
              </a:rPr>
              <a:t>DL-601  |  Lecture 05  |  Part II - Convolutional Vision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B86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280160" y="2606040"/>
            <a:ext cx="9631375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400" b="1" i="0">
                <a:solidFill>
                  <a:srgbClr val="FFFFFF"/>
                </a:solidFill>
                <a:latin typeface="Calibri"/>
              </a:rPr>
              <a:t>SECTION 01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280160" y="3017520"/>
            <a:ext cx="9631375" cy="12801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3600" b="1" i="0">
                <a:solidFill>
                  <a:srgbClr val="FFFFFF"/>
                </a:solidFill>
                <a:latin typeface="Calibri"/>
              </a:rPr>
              <a:t>Why not just use an MLP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58368" y="502920"/>
            <a:ext cx="10874959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100" b="1" i="0">
                <a:solidFill>
                  <a:srgbClr val="1B866B"/>
                </a:solidFill>
                <a:latin typeface="Calibri"/>
              </a:rPr>
              <a:t>LECTURE 05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58368" y="813816"/>
            <a:ext cx="10874959" cy="685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3000" b="1" i="0">
                <a:solidFill>
                  <a:srgbClr val="1A1F2B"/>
                </a:solidFill>
                <a:latin typeface="Calibri"/>
              </a:rPr>
              <a:t>Why not just use an MLP</a:t>
            </a:r>
          </a:p>
        </p:txBody>
      </p:sp>
      <p:sp>
        <p:nvSpPr>
          <p:cNvPr id="4" name="Rectangle 3"/>
          <p:cNvSpPr/>
          <p:nvPr/>
        </p:nvSpPr>
        <p:spPr>
          <a:xfrm>
            <a:off x="658368" y="1380744"/>
            <a:ext cx="1371600" cy="44450"/>
          </a:xfrm>
          <a:prstGeom prst="rect">
            <a:avLst/>
          </a:prstGeom>
          <a:solidFill>
            <a:srgbClr val="1B86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58368" y="1655064"/>
            <a:ext cx="10874959" cy="1365504"/>
          </a:xfrm>
          <a:prstGeom prst="rect">
            <a:avLst/>
          </a:prstGeom>
          <a:solidFill>
            <a:srgbClr val="F4F6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58368" y="1655064"/>
            <a:ext cx="44450" cy="1365504"/>
          </a:xfrm>
          <a:prstGeom prst="rect">
            <a:avLst/>
          </a:prstGeom>
          <a:solidFill>
            <a:srgbClr val="1B86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746504"/>
            <a:ext cx="10417759" cy="1219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900" b="0" i="0">
                <a:solidFill>
                  <a:srgbClr val="1A1F2B"/>
                </a:solidFill>
                <a:latin typeface="Calibri"/>
              </a:rPr>
              <a:t>A 224x224x3 image into one 1000-unit hidden layer is 150 million weights in a single layer.</a:t>
            </a:r>
          </a:p>
        </p:txBody>
      </p:sp>
      <p:sp>
        <p:nvSpPr>
          <p:cNvPr id="8" name="Rectangle 7"/>
          <p:cNvSpPr/>
          <p:nvPr/>
        </p:nvSpPr>
        <p:spPr>
          <a:xfrm>
            <a:off x="658368" y="3185160"/>
            <a:ext cx="10874959" cy="1365504"/>
          </a:xfrm>
          <a:prstGeom prst="rect">
            <a:avLst/>
          </a:prstGeom>
          <a:solidFill>
            <a:srgbClr val="F4F6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58368" y="3185160"/>
            <a:ext cx="44450" cy="1365504"/>
          </a:xfrm>
          <a:prstGeom prst="rect">
            <a:avLst/>
          </a:prstGeom>
          <a:solidFill>
            <a:srgbClr val="1B86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3276600"/>
            <a:ext cx="10417759" cy="1219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900" b="0" i="0">
                <a:solidFill>
                  <a:srgbClr val="1A1F2B"/>
                </a:solidFill>
                <a:latin typeface="Calibri"/>
              </a:rPr>
              <a:t>An MLP discards spatial structure the moment it flattens the input.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58368" y="4715256"/>
            <a:ext cx="10874959" cy="1365504"/>
          </a:xfrm>
          <a:prstGeom prst="rect">
            <a:avLst/>
          </a:prstGeom>
          <a:solidFill>
            <a:srgbClr val="F4F6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58368" y="4715256"/>
            <a:ext cx="44450" cy="1365504"/>
          </a:xfrm>
          <a:prstGeom prst="rect">
            <a:avLst/>
          </a:prstGeom>
          <a:solidFill>
            <a:srgbClr val="1B86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14400" y="4806696"/>
            <a:ext cx="10417759" cy="1219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900" b="0" i="0">
                <a:solidFill>
                  <a:srgbClr val="1A1F2B"/>
                </a:solidFill>
                <a:latin typeface="Calibri"/>
              </a:rPr>
              <a:t>It has no translation equivariance: shift the object by one pixel and every input changes.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58368" y="6382512"/>
            <a:ext cx="10874959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000" b="0" i="0">
                <a:solidFill>
                  <a:srgbClr val="5A6375"/>
                </a:solidFill>
                <a:latin typeface="Calibri"/>
              </a:rPr>
              <a:t>DL-601  |  Lecture 05  |  Part II - Convolutional Vision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B86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280160" y="2606040"/>
            <a:ext cx="9631375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400" b="1" i="0">
                <a:solidFill>
                  <a:srgbClr val="FFFFFF"/>
                </a:solidFill>
                <a:latin typeface="Calibri"/>
              </a:rPr>
              <a:t>SECTION 02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280160" y="3017520"/>
            <a:ext cx="9631375" cy="12801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3600" b="1" i="0">
                <a:solidFill>
                  <a:srgbClr val="FFFFFF"/>
                </a:solidFill>
                <a:latin typeface="Calibri"/>
              </a:rPr>
              <a:t>The two ideas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58368" y="502920"/>
            <a:ext cx="10874959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100" b="1" i="0">
                <a:solidFill>
                  <a:srgbClr val="1B866B"/>
                </a:solidFill>
                <a:latin typeface="Calibri"/>
              </a:rPr>
              <a:t>LECTURE 05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58368" y="813816"/>
            <a:ext cx="10874959" cy="685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3000" b="1" i="0">
                <a:solidFill>
                  <a:srgbClr val="1A1F2B"/>
                </a:solidFill>
                <a:latin typeface="Calibri"/>
              </a:rPr>
              <a:t>The two ideas</a:t>
            </a:r>
          </a:p>
        </p:txBody>
      </p:sp>
      <p:sp>
        <p:nvSpPr>
          <p:cNvPr id="4" name="Rectangle 3"/>
          <p:cNvSpPr/>
          <p:nvPr/>
        </p:nvSpPr>
        <p:spPr>
          <a:xfrm>
            <a:off x="658368" y="1380744"/>
            <a:ext cx="1371600" cy="44450"/>
          </a:xfrm>
          <a:prstGeom prst="rect">
            <a:avLst/>
          </a:prstGeom>
          <a:solidFill>
            <a:srgbClr val="1B86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58368" y="1655064"/>
            <a:ext cx="10874959" cy="982980"/>
          </a:xfrm>
          <a:prstGeom prst="rect">
            <a:avLst/>
          </a:prstGeom>
          <a:solidFill>
            <a:srgbClr val="F4F6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58368" y="1655064"/>
            <a:ext cx="44450" cy="982980"/>
          </a:xfrm>
          <a:prstGeom prst="rect">
            <a:avLst/>
          </a:prstGeom>
          <a:solidFill>
            <a:srgbClr val="1B86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746504"/>
            <a:ext cx="10417759" cy="83667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900" b="0" i="0">
                <a:solidFill>
                  <a:srgbClr val="1A1F2B"/>
                </a:solidFill>
                <a:latin typeface="Calibri"/>
              </a:rPr>
              <a:t>Local connectivity: a unit sees a small patch, because pixels far apart are weakly related.</a:t>
            </a:r>
          </a:p>
        </p:txBody>
      </p:sp>
      <p:sp>
        <p:nvSpPr>
          <p:cNvPr id="8" name="Rectangle 7"/>
          <p:cNvSpPr/>
          <p:nvPr/>
        </p:nvSpPr>
        <p:spPr>
          <a:xfrm>
            <a:off x="658368" y="2802636"/>
            <a:ext cx="10874959" cy="982980"/>
          </a:xfrm>
          <a:prstGeom prst="rect">
            <a:avLst/>
          </a:prstGeom>
          <a:solidFill>
            <a:srgbClr val="F4F6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58368" y="2802636"/>
            <a:ext cx="44450" cy="982980"/>
          </a:xfrm>
          <a:prstGeom prst="rect">
            <a:avLst/>
          </a:prstGeom>
          <a:solidFill>
            <a:srgbClr val="1B86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2894076"/>
            <a:ext cx="10417759" cy="83667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900" b="0" i="0">
                <a:solidFill>
                  <a:srgbClr val="1A1F2B"/>
                </a:solidFill>
                <a:latin typeface="Calibri"/>
              </a:rPr>
              <a:t>Weight sharing: the same kernel slides everywhere, because an edge is an edge anywhere in the frame.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58368" y="3950208"/>
            <a:ext cx="10874959" cy="982980"/>
          </a:xfrm>
          <a:prstGeom prst="rect">
            <a:avLst/>
          </a:prstGeom>
          <a:solidFill>
            <a:srgbClr val="F4F6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58368" y="3950208"/>
            <a:ext cx="44450" cy="982980"/>
          </a:xfrm>
          <a:prstGeom prst="rect">
            <a:avLst/>
          </a:prstGeom>
          <a:solidFill>
            <a:srgbClr val="1B86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14400" y="4041648"/>
            <a:ext cx="10417759" cy="83667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900" b="0" i="0">
                <a:solidFill>
                  <a:srgbClr val="1A1F2B"/>
                </a:solidFill>
                <a:latin typeface="Calibri"/>
              </a:rPr>
              <a:t>Together they give translation equivariance and cut parameters by orders of magnitude.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58368" y="5097780"/>
            <a:ext cx="10874959" cy="982980"/>
          </a:xfrm>
          <a:prstGeom prst="rect">
            <a:avLst/>
          </a:prstGeom>
          <a:solidFill>
            <a:srgbClr val="F4F6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58368" y="5097780"/>
            <a:ext cx="44450" cy="982980"/>
          </a:xfrm>
          <a:prstGeom prst="rect">
            <a:avLst/>
          </a:prstGeom>
          <a:solidFill>
            <a:srgbClr val="1B86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14400" y="5189220"/>
            <a:ext cx="10417759" cy="83667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900" b="0" i="0">
                <a:solidFill>
                  <a:srgbClr val="1A1F2B"/>
                </a:solidFill>
                <a:latin typeface="Calibri"/>
              </a:rPr>
              <a:t>A 3x3x3 kernel producing 64 channels is 1792 parameters, independent of image size.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58368" y="6382512"/>
            <a:ext cx="10874959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000" b="0" i="0">
                <a:solidFill>
                  <a:srgbClr val="5A6375"/>
                </a:solidFill>
                <a:latin typeface="Calibri"/>
              </a:rPr>
              <a:t>DL-601  |  Lecture 05  |  Part II - Convolutional Vision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B86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280160" y="2606040"/>
            <a:ext cx="9631375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400" b="1" i="0">
                <a:solidFill>
                  <a:srgbClr val="FFFFFF"/>
                </a:solidFill>
                <a:latin typeface="Calibri"/>
              </a:rPr>
              <a:t>SECTION 03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280160" y="3017520"/>
            <a:ext cx="9631375" cy="12801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3600" b="1" i="0">
                <a:solidFill>
                  <a:srgbClr val="FFFFFF"/>
                </a:solidFill>
                <a:latin typeface="Calibri"/>
              </a:rPr>
              <a:t>Convolution arithmetic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58368" y="502920"/>
            <a:ext cx="10874959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100" b="1" i="0">
                <a:solidFill>
                  <a:srgbClr val="1B866B"/>
                </a:solidFill>
                <a:latin typeface="Calibri"/>
              </a:rPr>
              <a:t>LECTURE 05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58368" y="813816"/>
            <a:ext cx="10874959" cy="685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3000" b="1" i="0">
                <a:solidFill>
                  <a:srgbClr val="1A1F2B"/>
                </a:solidFill>
                <a:latin typeface="Calibri"/>
              </a:rPr>
              <a:t>Convolution arithmetic</a:t>
            </a:r>
          </a:p>
        </p:txBody>
      </p:sp>
      <p:sp>
        <p:nvSpPr>
          <p:cNvPr id="4" name="Rectangle 3"/>
          <p:cNvSpPr/>
          <p:nvPr/>
        </p:nvSpPr>
        <p:spPr>
          <a:xfrm>
            <a:off x="658368" y="1380744"/>
            <a:ext cx="1371600" cy="44450"/>
          </a:xfrm>
          <a:prstGeom prst="rect">
            <a:avLst/>
          </a:prstGeom>
          <a:solidFill>
            <a:srgbClr val="1B86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58368" y="1655064"/>
            <a:ext cx="10874959" cy="982980"/>
          </a:xfrm>
          <a:prstGeom prst="rect">
            <a:avLst/>
          </a:prstGeom>
          <a:solidFill>
            <a:srgbClr val="F4F6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58368" y="1655064"/>
            <a:ext cx="44450" cy="982980"/>
          </a:xfrm>
          <a:prstGeom prst="rect">
            <a:avLst/>
          </a:prstGeom>
          <a:solidFill>
            <a:srgbClr val="1B86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746504"/>
            <a:ext cx="10417759" cy="83667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900" b="0" i="0">
                <a:solidFill>
                  <a:srgbClr val="1A1F2B"/>
                </a:solidFill>
                <a:latin typeface="Calibri"/>
              </a:rPr>
              <a:t>out = floor((in + 2*padding - dilation*(kernel - 1) - 1) / stride) + 1.</a:t>
            </a:r>
          </a:p>
        </p:txBody>
      </p:sp>
      <p:sp>
        <p:nvSpPr>
          <p:cNvPr id="8" name="Rectangle 7"/>
          <p:cNvSpPr/>
          <p:nvPr/>
        </p:nvSpPr>
        <p:spPr>
          <a:xfrm>
            <a:off x="658368" y="2802636"/>
            <a:ext cx="10874959" cy="982980"/>
          </a:xfrm>
          <a:prstGeom prst="rect">
            <a:avLst/>
          </a:prstGeom>
          <a:solidFill>
            <a:srgbClr val="F4F6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58368" y="2802636"/>
            <a:ext cx="44450" cy="982980"/>
          </a:xfrm>
          <a:prstGeom prst="rect">
            <a:avLst/>
          </a:prstGeom>
          <a:solidFill>
            <a:srgbClr val="1B86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2894076"/>
            <a:ext cx="10417759" cy="83667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900" b="0" i="0">
                <a:solidFill>
                  <a:srgbClr val="1A1F2B"/>
                </a:solidFill>
                <a:latin typeface="Calibri"/>
              </a:rPr>
              <a:t>'same' padding for an odd kernel k with stride 1 is p = (k - 1) / 2.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58368" y="3950208"/>
            <a:ext cx="10874959" cy="982980"/>
          </a:xfrm>
          <a:prstGeom prst="rect">
            <a:avLst/>
          </a:prstGeom>
          <a:solidFill>
            <a:srgbClr val="F4F6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58368" y="3950208"/>
            <a:ext cx="44450" cy="982980"/>
          </a:xfrm>
          <a:prstGeom prst="rect">
            <a:avLst/>
          </a:prstGeom>
          <a:solidFill>
            <a:srgbClr val="1B86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14400" y="4041648"/>
            <a:ext cx="10417759" cy="83667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900" b="0" i="0">
                <a:solidFill>
                  <a:srgbClr val="1A1F2B"/>
                </a:solidFill>
                <a:latin typeface="Calibri"/>
              </a:rPr>
              <a:t>Stride 2 halves the spatial size and is the common alternative to pooling.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58368" y="5097780"/>
            <a:ext cx="10874959" cy="982980"/>
          </a:xfrm>
          <a:prstGeom prst="rect">
            <a:avLst/>
          </a:prstGeom>
          <a:solidFill>
            <a:srgbClr val="F4F6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58368" y="5097780"/>
            <a:ext cx="44450" cy="982980"/>
          </a:xfrm>
          <a:prstGeom prst="rect">
            <a:avLst/>
          </a:prstGeom>
          <a:solidFill>
            <a:srgbClr val="1B86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14400" y="5189220"/>
            <a:ext cx="10417759" cy="83667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900" b="0" i="0">
                <a:solidFill>
                  <a:srgbClr val="1A1F2B"/>
                </a:solidFill>
                <a:latin typeface="Calibri"/>
              </a:rPr>
              <a:t>Dilation enlarges the receptive field without adding parameters - central to segmentation.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58368" y="6382512"/>
            <a:ext cx="10874959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000" b="0" i="0">
                <a:solidFill>
                  <a:srgbClr val="5A6375"/>
                </a:solidFill>
                <a:latin typeface="Calibri"/>
              </a:rPr>
              <a:t>DL-601  |  Lecture 05  |  Part II - Convolutional Vision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B86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280160" y="2606040"/>
            <a:ext cx="9631375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400" b="1" i="0">
                <a:solidFill>
                  <a:srgbClr val="FFFFFF"/>
                </a:solidFill>
                <a:latin typeface="Calibri"/>
              </a:rPr>
              <a:t>SECTION 04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280160" y="3017520"/>
            <a:ext cx="9631375" cy="12801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3600" b="1" i="0">
                <a:solidFill>
                  <a:srgbClr val="FFFFFF"/>
                </a:solidFill>
                <a:latin typeface="Calibri"/>
              </a:rPr>
              <a:t>Pooling and downsampling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58368" y="502920"/>
            <a:ext cx="10874959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100" b="1" i="0">
                <a:solidFill>
                  <a:srgbClr val="1B866B"/>
                </a:solidFill>
                <a:latin typeface="Calibri"/>
              </a:rPr>
              <a:t>LECTURE 05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58368" y="813816"/>
            <a:ext cx="10874959" cy="685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3000" b="1" i="0">
                <a:solidFill>
                  <a:srgbClr val="1A1F2B"/>
                </a:solidFill>
                <a:latin typeface="Calibri"/>
              </a:rPr>
              <a:t>Pooling and downsampling</a:t>
            </a:r>
          </a:p>
        </p:txBody>
      </p:sp>
      <p:sp>
        <p:nvSpPr>
          <p:cNvPr id="4" name="Rectangle 3"/>
          <p:cNvSpPr/>
          <p:nvPr/>
        </p:nvSpPr>
        <p:spPr>
          <a:xfrm>
            <a:off x="658368" y="1380744"/>
            <a:ext cx="1371600" cy="44450"/>
          </a:xfrm>
          <a:prstGeom prst="rect">
            <a:avLst/>
          </a:prstGeom>
          <a:solidFill>
            <a:srgbClr val="1B86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58368" y="1655064"/>
            <a:ext cx="10874959" cy="1365504"/>
          </a:xfrm>
          <a:prstGeom prst="rect">
            <a:avLst/>
          </a:prstGeom>
          <a:solidFill>
            <a:srgbClr val="F4F6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58368" y="1655064"/>
            <a:ext cx="44450" cy="1365504"/>
          </a:xfrm>
          <a:prstGeom prst="rect">
            <a:avLst/>
          </a:prstGeom>
          <a:solidFill>
            <a:srgbClr val="1B86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746504"/>
            <a:ext cx="10417759" cy="1219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900" b="0" i="0">
                <a:solidFill>
                  <a:srgbClr val="1A1F2B"/>
                </a:solidFill>
                <a:latin typeface="Calibri"/>
              </a:rPr>
              <a:t>Max pooling gives small-translation invariance and reduces computation.</a:t>
            </a:r>
          </a:p>
        </p:txBody>
      </p:sp>
      <p:sp>
        <p:nvSpPr>
          <p:cNvPr id="8" name="Rectangle 7"/>
          <p:cNvSpPr/>
          <p:nvPr/>
        </p:nvSpPr>
        <p:spPr>
          <a:xfrm>
            <a:off x="658368" y="3185160"/>
            <a:ext cx="10874959" cy="1365504"/>
          </a:xfrm>
          <a:prstGeom prst="rect">
            <a:avLst/>
          </a:prstGeom>
          <a:solidFill>
            <a:srgbClr val="F4F6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58368" y="3185160"/>
            <a:ext cx="44450" cy="1365504"/>
          </a:xfrm>
          <a:prstGeom prst="rect">
            <a:avLst/>
          </a:prstGeom>
          <a:solidFill>
            <a:srgbClr val="1B86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3276600"/>
            <a:ext cx="10417759" cy="1219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900" b="0" i="0">
                <a:solidFill>
                  <a:srgbClr val="1A1F2B"/>
                </a:solidFill>
                <a:latin typeface="Calibri"/>
              </a:rPr>
              <a:t>Average pooling is smoother; global average pooling replaces the big flatten-and-dense head.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58368" y="4715256"/>
            <a:ext cx="10874959" cy="1365504"/>
          </a:xfrm>
          <a:prstGeom prst="rect">
            <a:avLst/>
          </a:prstGeom>
          <a:solidFill>
            <a:srgbClr val="F4F6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58368" y="4715256"/>
            <a:ext cx="44450" cy="1365504"/>
          </a:xfrm>
          <a:prstGeom prst="rect">
            <a:avLst/>
          </a:prstGeom>
          <a:solidFill>
            <a:srgbClr val="1B86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14400" y="4806696"/>
            <a:ext cx="10417759" cy="1219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900" b="0" i="0">
                <a:solidFill>
                  <a:srgbClr val="1A1F2B"/>
                </a:solidFill>
                <a:latin typeface="Calibri"/>
              </a:rPr>
              <a:t>Modern architectures often use strided convolution instead of pooling and learn the downsample.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58368" y="6382512"/>
            <a:ext cx="10874959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000" b="0" i="0">
                <a:solidFill>
                  <a:srgbClr val="5A6375"/>
                </a:solidFill>
                <a:latin typeface="Calibri"/>
              </a:rPr>
              <a:t>DL-601  |  Lecture 05  |  Part II - Convolutional Vision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B86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280160" y="2606040"/>
            <a:ext cx="9631375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400" b="1" i="0">
                <a:solidFill>
                  <a:srgbClr val="FFFFFF"/>
                </a:solidFill>
                <a:latin typeface="Calibri"/>
              </a:rPr>
              <a:t>SECTION 05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280160" y="3017520"/>
            <a:ext cx="9631375" cy="12801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3600" b="1" i="0">
                <a:solidFill>
                  <a:srgbClr val="FFFFFF"/>
                </a:solidFill>
                <a:latin typeface="Calibri"/>
              </a:rPr>
              <a:t>Receptive field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58368" y="502920"/>
            <a:ext cx="10874959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100" b="1" i="0">
                <a:solidFill>
                  <a:srgbClr val="1B866B"/>
                </a:solidFill>
                <a:latin typeface="Calibri"/>
              </a:rPr>
              <a:t>LECTURE 05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58368" y="813816"/>
            <a:ext cx="10874959" cy="685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3000" b="1" i="0">
                <a:solidFill>
                  <a:srgbClr val="1A1F2B"/>
                </a:solidFill>
                <a:latin typeface="Calibri"/>
              </a:rPr>
              <a:t>Receptive field</a:t>
            </a:r>
          </a:p>
        </p:txBody>
      </p:sp>
      <p:sp>
        <p:nvSpPr>
          <p:cNvPr id="4" name="Rectangle 3"/>
          <p:cNvSpPr/>
          <p:nvPr/>
        </p:nvSpPr>
        <p:spPr>
          <a:xfrm>
            <a:off x="658368" y="1380744"/>
            <a:ext cx="1371600" cy="44450"/>
          </a:xfrm>
          <a:prstGeom prst="rect">
            <a:avLst/>
          </a:prstGeom>
          <a:solidFill>
            <a:srgbClr val="1B86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58368" y="1655064"/>
            <a:ext cx="10874959" cy="1365504"/>
          </a:xfrm>
          <a:prstGeom prst="rect">
            <a:avLst/>
          </a:prstGeom>
          <a:solidFill>
            <a:srgbClr val="F4F6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58368" y="1655064"/>
            <a:ext cx="44450" cy="1365504"/>
          </a:xfrm>
          <a:prstGeom prst="rect">
            <a:avLst/>
          </a:prstGeom>
          <a:solidFill>
            <a:srgbClr val="1B86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746504"/>
            <a:ext cx="10417759" cy="1219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900" b="0" i="0">
                <a:solidFill>
                  <a:srgbClr val="1A1F2B"/>
                </a:solidFill>
                <a:latin typeface="Calibri"/>
              </a:rPr>
              <a:t>Stacking two 3x3 layers gives a 5x5 receptive field with fewer parameters than one 5x5 layer.</a:t>
            </a:r>
          </a:p>
        </p:txBody>
      </p:sp>
      <p:sp>
        <p:nvSpPr>
          <p:cNvPr id="8" name="Rectangle 7"/>
          <p:cNvSpPr/>
          <p:nvPr/>
        </p:nvSpPr>
        <p:spPr>
          <a:xfrm>
            <a:off x="658368" y="3185160"/>
            <a:ext cx="10874959" cy="1365504"/>
          </a:xfrm>
          <a:prstGeom prst="rect">
            <a:avLst/>
          </a:prstGeom>
          <a:solidFill>
            <a:srgbClr val="F4F6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58368" y="3185160"/>
            <a:ext cx="44450" cy="1365504"/>
          </a:xfrm>
          <a:prstGeom prst="rect">
            <a:avLst/>
          </a:prstGeom>
          <a:solidFill>
            <a:srgbClr val="1B86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3276600"/>
            <a:ext cx="10417759" cy="1219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900" b="0" i="0">
                <a:solidFill>
                  <a:srgbClr val="1A1F2B"/>
                </a:solidFill>
                <a:latin typeface="Calibri"/>
              </a:rPr>
              <a:t>RF grows linearly with depth and multiplicatively with stride.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58368" y="4715256"/>
            <a:ext cx="10874959" cy="1365504"/>
          </a:xfrm>
          <a:prstGeom prst="rect">
            <a:avLst/>
          </a:prstGeom>
          <a:solidFill>
            <a:srgbClr val="F4F6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58368" y="4715256"/>
            <a:ext cx="44450" cy="1365504"/>
          </a:xfrm>
          <a:prstGeom prst="rect">
            <a:avLst/>
          </a:prstGeom>
          <a:solidFill>
            <a:srgbClr val="1B86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14400" y="4806696"/>
            <a:ext cx="10417759" cy="1219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900" b="0" i="0">
                <a:solidFill>
                  <a:srgbClr val="1A1F2B"/>
                </a:solidFill>
                <a:latin typeface="Calibri"/>
              </a:rPr>
              <a:t>If the receptive field at the classification layer does not cover the object, the model cannot see it.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58368" y="6382512"/>
            <a:ext cx="10874959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000" b="0" i="0">
                <a:solidFill>
                  <a:srgbClr val="5A6375"/>
                </a:solidFill>
                <a:latin typeface="Calibri"/>
              </a:rPr>
              <a:t>DL-601  |  Lecture 05  |  Part II - Convolutional Vision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B86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280160" y="2606040"/>
            <a:ext cx="9631375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400" b="1" i="0">
                <a:solidFill>
                  <a:srgbClr val="FFFFFF"/>
                </a:solidFill>
                <a:latin typeface="Calibri"/>
              </a:rPr>
              <a:t>SECTION 06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280160" y="3017520"/>
            <a:ext cx="9631375" cy="12801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3600" b="1" i="0">
                <a:solidFill>
                  <a:srgbClr val="FFFFFF"/>
                </a:solidFill>
                <a:latin typeface="Calibri"/>
              </a:rPr>
              <a:t>What the filters learn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58368" y="502920"/>
            <a:ext cx="10874959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100" b="1" i="0">
                <a:solidFill>
                  <a:srgbClr val="1B866B"/>
                </a:solidFill>
                <a:latin typeface="Calibri"/>
              </a:rPr>
              <a:t>LECTURE 05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58368" y="813816"/>
            <a:ext cx="10874959" cy="685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3000" b="1" i="0">
                <a:solidFill>
                  <a:srgbClr val="1A1F2B"/>
                </a:solidFill>
                <a:latin typeface="Calibri"/>
              </a:rPr>
              <a:t>What the filters learn</a:t>
            </a:r>
          </a:p>
        </p:txBody>
      </p:sp>
      <p:sp>
        <p:nvSpPr>
          <p:cNvPr id="4" name="Rectangle 3"/>
          <p:cNvSpPr/>
          <p:nvPr/>
        </p:nvSpPr>
        <p:spPr>
          <a:xfrm>
            <a:off x="658368" y="1380744"/>
            <a:ext cx="1371600" cy="44450"/>
          </a:xfrm>
          <a:prstGeom prst="rect">
            <a:avLst/>
          </a:prstGeom>
          <a:solidFill>
            <a:srgbClr val="1B86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58368" y="1655064"/>
            <a:ext cx="10874959" cy="982980"/>
          </a:xfrm>
          <a:prstGeom prst="rect">
            <a:avLst/>
          </a:prstGeom>
          <a:solidFill>
            <a:srgbClr val="F4F6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58368" y="1655064"/>
            <a:ext cx="44450" cy="982980"/>
          </a:xfrm>
          <a:prstGeom prst="rect">
            <a:avLst/>
          </a:prstGeom>
          <a:solidFill>
            <a:srgbClr val="1B86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746504"/>
            <a:ext cx="10417759" cy="83667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900" b="0" i="0">
                <a:solidFill>
                  <a:srgbClr val="1A1F2B"/>
                </a:solidFill>
                <a:latin typeface="Calibri"/>
              </a:rPr>
              <a:t>Layer 1: oriented edges and colour blobs - remarkably close to Gabor filters, every time.</a:t>
            </a:r>
          </a:p>
        </p:txBody>
      </p:sp>
      <p:sp>
        <p:nvSpPr>
          <p:cNvPr id="8" name="Rectangle 7"/>
          <p:cNvSpPr/>
          <p:nvPr/>
        </p:nvSpPr>
        <p:spPr>
          <a:xfrm>
            <a:off x="658368" y="2802636"/>
            <a:ext cx="10874959" cy="982980"/>
          </a:xfrm>
          <a:prstGeom prst="rect">
            <a:avLst/>
          </a:prstGeom>
          <a:solidFill>
            <a:srgbClr val="F4F6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58368" y="2802636"/>
            <a:ext cx="44450" cy="982980"/>
          </a:xfrm>
          <a:prstGeom prst="rect">
            <a:avLst/>
          </a:prstGeom>
          <a:solidFill>
            <a:srgbClr val="1B86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2894076"/>
            <a:ext cx="10417759" cy="83667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900" b="0" i="0">
                <a:solidFill>
                  <a:srgbClr val="1A1F2B"/>
                </a:solidFill>
                <a:latin typeface="Calibri"/>
              </a:rPr>
              <a:t>Middle layers: corners, textures, repeated motifs.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58368" y="3950208"/>
            <a:ext cx="10874959" cy="982980"/>
          </a:xfrm>
          <a:prstGeom prst="rect">
            <a:avLst/>
          </a:prstGeom>
          <a:solidFill>
            <a:srgbClr val="F4F6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58368" y="3950208"/>
            <a:ext cx="44450" cy="982980"/>
          </a:xfrm>
          <a:prstGeom prst="rect">
            <a:avLst/>
          </a:prstGeom>
          <a:solidFill>
            <a:srgbClr val="1B86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14400" y="4041648"/>
            <a:ext cx="10417759" cy="83667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900" b="0" i="0">
                <a:solidFill>
                  <a:srgbClr val="1A1F2B"/>
                </a:solidFill>
                <a:latin typeface="Calibri"/>
              </a:rPr>
              <a:t>Deep layers: object parts and whole-object detectors.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58368" y="5097780"/>
            <a:ext cx="10874959" cy="982980"/>
          </a:xfrm>
          <a:prstGeom prst="rect">
            <a:avLst/>
          </a:prstGeom>
          <a:solidFill>
            <a:srgbClr val="F4F6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58368" y="5097780"/>
            <a:ext cx="44450" cy="982980"/>
          </a:xfrm>
          <a:prstGeom prst="rect">
            <a:avLst/>
          </a:prstGeom>
          <a:solidFill>
            <a:srgbClr val="1B86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14400" y="5189220"/>
            <a:ext cx="10417759" cy="83667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900" b="0" i="0">
                <a:solidFill>
                  <a:srgbClr val="1A1F2B"/>
                </a:solidFill>
                <a:latin typeface="Calibri"/>
              </a:rPr>
              <a:t>This hierarchy emerges from the data. Nobody designs it.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58368" y="6382512"/>
            <a:ext cx="10874959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000" b="0" i="0">
                <a:solidFill>
                  <a:srgbClr val="5A6375"/>
                </a:solidFill>
                <a:latin typeface="Calibri"/>
              </a:rPr>
              <a:t>DL-601  |  Lecture 05  |  Part II - Convolutional Vision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58368" y="502920"/>
            <a:ext cx="10874959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100" b="1" i="0">
                <a:solidFill>
                  <a:srgbClr val="1B866B"/>
                </a:solidFill>
                <a:latin typeface="Calibri"/>
              </a:rPr>
              <a:t>NOTEBOOK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58368" y="813816"/>
            <a:ext cx="10874959" cy="685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3000" b="1" i="0">
                <a:solidFill>
                  <a:srgbClr val="1A1F2B"/>
                </a:solidFill>
                <a:latin typeface="Calibri"/>
              </a:rPr>
              <a:t>Hands-on lab</a:t>
            </a:r>
          </a:p>
        </p:txBody>
      </p:sp>
      <p:sp>
        <p:nvSpPr>
          <p:cNvPr id="4" name="Rectangle 3"/>
          <p:cNvSpPr/>
          <p:nvPr/>
        </p:nvSpPr>
        <p:spPr>
          <a:xfrm>
            <a:off x="658368" y="1380744"/>
            <a:ext cx="1371600" cy="44450"/>
          </a:xfrm>
          <a:prstGeom prst="rect">
            <a:avLst/>
          </a:prstGeom>
          <a:solidFill>
            <a:srgbClr val="1B86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58368" y="1655064"/>
            <a:ext cx="10874959" cy="1737360"/>
          </a:xfrm>
          <a:prstGeom prst="rect">
            <a:avLst/>
          </a:prstGeom>
          <a:solidFill>
            <a:srgbClr val="F4F6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58368" y="1655064"/>
            <a:ext cx="50800" cy="1737360"/>
          </a:xfrm>
          <a:prstGeom prst="rect">
            <a:avLst/>
          </a:prstGeom>
          <a:solidFill>
            <a:srgbClr val="1B86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50976" y="1856232"/>
            <a:ext cx="10289743" cy="1371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700" b="0" i="0">
                <a:solidFill>
                  <a:srgbClr val="1A1F2B"/>
                </a:solidFill>
                <a:latin typeface="Calibri"/>
              </a:rPr>
              <a:t>Implement conv2d with im2col and max pooling from scratch and match torch.nn.functional to 1e-5; apply hand-built edge kernels to see what convolution does; train a CNN to ~99% and compare it against an MLP on accuracy, parameter count and — the decisive test — accuracy on translated images; then visualise the learned first-layer filters and measure the receptive field.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58368" y="3666744"/>
            <a:ext cx="13716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400" b="1" i="0">
                <a:solidFill>
                  <a:srgbClr val="1B866B"/>
                </a:solidFill>
                <a:latin typeface="Calibri"/>
              </a:rPr>
              <a:t>Notebook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121408" y="3666744"/>
            <a:ext cx="9411919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400" b="0" i="0">
                <a:solidFill>
                  <a:srgbClr val="1A1F2B"/>
                </a:solidFill>
                <a:latin typeface="Consolas"/>
              </a:rPr>
              <a:t>notebooks/L05_Convolutional_Neural_Networks.ipynb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8368" y="4142232"/>
            <a:ext cx="13716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400" b="1" i="0">
                <a:solidFill>
                  <a:srgbClr val="1B866B"/>
                </a:solidFill>
                <a:latin typeface="Calibri"/>
              </a:rPr>
              <a:t>Data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121408" y="4142232"/>
            <a:ext cx="9411919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400" b="0" i="0">
                <a:solidFill>
                  <a:srgbClr val="1A1F2B"/>
                </a:solidFill>
                <a:latin typeface="Consolas"/>
              </a:rPr>
              <a:t>shapes_32.npz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8368" y="4617720"/>
            <a:ext cx="13716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400" b="1" i="0">
                <a:solidFill>
                  <a:srgbClr val="1B866B"/>
                </a:solidFill>
                <a:latin typeface="Calibri"/>
              </a:rPr>
              <a:t>Helpers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121408" y="4617720"/>
            <a:ext cx="9411919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400" b="0" i="0">
                <a:solidFill>
                  <a:srgbClr val="1A1F2B"/>
                </a:solidFill>
                <a:latin typeface="Consolas"/>
              </a:rPr>
              <a:t>from dlcourse import load_shapes, train, evaluate, show_grid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58368" y="6382512"/>
            <a:ext cx="10874959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000" b="0" i="0">
                <a:solidFill>
                  <a:srgbClr val="5A6375"/>
                </a:solidFill>
                <a:latin typeface="Calibri"/>
              </a:rPr>
              <a:t>DL-601  |  Lecture 05  |  Part II - Convolutional Vision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58368" y="502920"/>
            <a:ext cx="10874959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100" b="1" i="0">
                <a:solidFill>
                  <a:srgbClr val="1B866B"/>
                </a:solidFill>
                <a:latin typeface="Calibri"/>
              </a:rPr>
              <a:t>DUE BEFORE THE NEXT LECTURE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58368" y="813816"/>
            <a:ext cx="10874959" cy="685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3000" b="1" i="0">
                <a:solidFill>
                  <a:srgbClr val="1A1F2B"/>
                </a:solidFill>
                <a:latin typeface="Calibri"/>
              </a:rPr>
              <a:t>Your tasks</a:t>
            </a:r>
          </a:p>
        </p:txBody>
      </p:sp>
      <p:sp>
        <p:nvSpPr>
          <p:cNvPr id="4" name="Rectangle 3"/>
          <p:cNvSpPr/>
          <p:nvPr/>
        </p:nvSpPr>
        <p:spPr>
          <a:xfrm>
            <a:off x="658368" y="1380744"/>
            <a:ext cx="1371600" cy="44450"/>
          </a:xfrm>
          <a:prstGeom prst="rect">
            <a:avLst/>
          </a:prstGeom>
          <a:solidFill>
            <a:srgbClr val="1B86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58368" y="1655064"/>
            <a:ext cx="54864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300" b="1" i="0">
                <a:solidFill>
                  <a:srgbClr val="1B866B"/>
                </a:solidFill>
                <a:latin typeface="Calibri"/>
              </a:rPr>
              <a:t>CORE — all 6 required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8368" y="2039112"/>
            <a:ext cx="5486400" cy="3840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500" b="0" i="0">
                <a:solidFill>
                  <a:srgbClr val="1A1F2B"/>
                </a:solidFill>
                <a:latin typeface="Calibri"/>
              </a:rPr>
              <a:t>1.  Shape arithmetic without running code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" y="2450592"/>
            <a:ext cx="5486400" cy="3840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500" b="0" i="0">
                <a:solidFill>
                  <a:srgbClr val="1A1F2B"/>
                </a:solidFill>
                <a:latin typeface="Calibri"/>
              </a:rPr>
              <a:t>2.  Convolution from scratch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58368" y="2862072"/>
            <a:ext cx="5486400" cy="3840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500" b="0" i="0">
                <a:solidFill>
                  <a:srgbClr val="1A1F2B"/>
                </a:solidFill>
                <a:latin typeface="Calibri"/>
              </a:rPr>
              <a:t>3.  Max pooling forward and backward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8368" y="3273552"/>
            <a:ext cx="5486400" cy="3840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500" b="0" i="0">
                <a:solidFill>
                  <a:srgbClr val="1A1F2B"/>
                </a:solidFill>
                <a:latin typeface="Calibri"/>
              </a:rPr>
              <a:t>4.  Train a CNN on shapes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8368" y="3685032"/>
            <a:ext cx="5486400" cy="3840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500" b="0" i="0">
                <a:solidFill>
                  <a:srgbClr val="1A1F2B"/>
                </a:solidFill>
                <a:latin typeface="Calibri"/>
              </a:rPr>
              <a:t>5.  Parameter accounting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58368" y="4096512"/>
            <a:ext cx="5486400" cy="3840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500" b="0" i="0">
                <a:solidFill>
                  <a:srgbClr val="1A1F2B"/>
                </a:solidFill>
                <a:latin typeface="Calibri"/>
              </a:rPr>
              <a:t>6.  Visualise layer-1 filters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601968" y="1655064"/>
            <a:ext cx="493776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300" b="1" i="0">
                <a:solidFill>
                  <a:srgbClr val="5A6375"/>
                </a:solidFill>
                <a:latin typeface="Calibri"/>
              </a:rPr>
              <a:t>STRETCH — 2 optional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601968" y="2039112"/>
            <a:ext cx="4937760" cy="3840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500" b="0" i="0">
                <a:solidFill>
                  <a:srgbClr val="5A6375"/>
                </a:solidFill>
                <a:latin typeface="Calibri"/>
              </a:rPr>
              <a:t>1.  Receptive field calculator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601968" y="2450592"/>
            <a:ext cx="4937760" cy="3840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500" b="0" i="0">
                <a:solidFill>
                  <a:srgbClr val="5A6375"/>
                </a:solidFill>
                <a:latin typeface="Calibri"/>
              </a:rPr>
              <a:t>2.  Translation equivariance test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58368" y="5897880"/>
            <a:ext cx="10874959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300" b="0" i="1">
                <a:solidFill>
                  <a:srgbClr val="5A6375"/>
                </a:solidFill>
                <a:latin typeface="Calibri"/>
              </a:rPr>
              <a:t>Full instructions: tasks/Lecture_05_Tasks.md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58368" y="6382512"/>
            <a:ext cx="10874959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000" b="0" i="0">
                <a:solidFill>
                  <a:srgbClr val="5A6375"/>
                </a:solidFill>
                <a:latin typeface="Calibri"/>
              </a:rPr>
              <a:t>DL-601  |  Lecture 05  |  Part II - Convolutional Vision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58368" y="502920"/>
            <a:ext cx="10874959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100" b="1" i="0">
                <a:solidFill>
                  <a:srgbClr val="1B866B"/>
                </a:solidFill>
                <a:latin typeface="Calibri"/>
              </a:rPr>
              <a:t>GO DEEPER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58368" y="813816"/>
            <a:ext cx="10874959" cy="685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3000" b="1" i="0">
                <a:solidFill>
                  <a:srgbClr val="1A1F2B"/>
                </a:solidFill>
                <a:latin typeface="Calibri"/>
              </a:rPr>
              <a:t>Reading</a:t>
            </a:r>
          </a:p>
        </p:txBody>
      </p:sp>
      <p:sp>
        <p:nvSpPr>
          <p:cNvPr id="4" name="Rectangle 3"/>
          <p:cNvSpPr/>
          <p:nvPr/>
        </p:nvSpPr>
        <p:spPr>
          <a:xfrm>
            <a:off x="658368" y="1380744"/>
            <a:ext cx="1371600" cy="44450"/>
          </a:xfrm>
          <a:prstGeom prst="rect">
            <a:avLst/>
          </a:prstGeom>
          <a:solidFill>
            <a:srgbClr val="1B86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58368" y="1764792"/>
            <a:ext cx="36576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600" b="1" i="0">
                <a:solidFill>
                  <a:srgbClr val="1B866B"/>
                </a:solidFill>
                <a:latin typeface="Calibri"/>
              </a:rPr>
              <a:t>▸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69848" y="1764792"/>
            <a:ext cx="10463479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600" b="0" i="0">
                <a:solidFill>
                  <a:srgbClr val="1A1F2B"/>
                </a:solidFill>
                <a:latin typeface="Calibri"/>
              </a:rPr>
              <a:t>LeCun et al. (1998), Gradient-Based Learning Applied to Document Recognition (LeNet-5).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" y="2331720"/>
            <a:ext cx="36576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600" b="1" i="0">
                <a:solidFill>
                  <a:srgbClr val="1B866B"/>
                </a:solidFill>
                <a:latin typeface="Calibri"/>
              </a:rPr>
              <a:t>▸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69848" y="2331720"/>
            <a:ext cx="10463479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600" b="0" i="0">
                <a:solidFill>
                  <a:srgbClr val="1A1F2B"/>
                </a:solidFill>
                <a:latin typeface="Calibri"/>
              </a:rPr>
              <a:t>Dumoulin &amp; Visin (2016), A Guide to Convolution Arithmetic for Deep Learning.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8368" y="2898648"/>
            <a:ext cx="36576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600" b="1" i="0">
                <a:solidFill>
                  <a:srgbClr val="1B866B"/>
                </a:solidFill>
                <a:latin typeface="Calibri"/>
              </a:rPr>
              <a:t>▸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69848" y="2898648"/>
            <a:ext cx="10463479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600" b="0" i="0">
                <a:solidFill>
                  <a:srgbClr val="1A1F2B"/>
                </a:solidFill>
                <a:latin typeface="Calibri"/>
              </a:rPr>
              <a:t>CS231n notes: Convolutional Neural Networks.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58368" y="6382512"/>
            <a:ext cx="10874959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000" b="0" i="0">
                <a:solidFill>
                  <a:srgbClr val="5A6375"/>
                </a:solidFill>
                <a:latin typeface="Calibri"/>
              </a:rPr>
              <a:t>DL-601  |  Lecture 05  |  Part II - Convolutional Vision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6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502920"/>
            <a:ext cx="10874959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100" b="1" i="0">
                <a:solidFill>
                  <a:srgbClr val="1B866B"/>
                </a:solidFill>
                <a:latin typeface="Calibri"/>
              </a:rPr>
              <a:t>SUMMARY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813816"/>
            <a:ext cx="10874959" cy="685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3000" b="1" i="0">
                <a:solidFill>
                  <a:srgbClr val="1A1F2B"/>
                </a:solidFill>
                <a:latin typeface="Calibri"/>
              </a:rPr>
              <a:t>What to take away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380744"/>
            <a:ext cx="1371600" cy="44450"/>
          </a:xfrm>
          <a:prstGeom prst="rect">
            <a:avLst/>
          </a:prstGeom>
          <a:solidFill>
            <a:srgbClr val="1B86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58368" y="1837944"/>
            <a:ext cx="128016" cy="128016"/>
          </a:xfrm>
          <a:prstGeom prst="rect">
            <a:avLst/>
          </a:prstGeom>
          <a:solidFill>
            <a:srgbClr val="1B86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24128" y="1691640"/>
            <a:ext cx="10509199" cy="6217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600" b="0" i="0">
                <a:solidFill>
                  <a:srgbClr val="1A1F2B"/>
                </a:solidFill>
                <a:latin typeface="Calibri"/>
              </a:rPr>
              <a:t>A 224x224x3 image into one 1000-unit hidden layer is 150 million weights in a single layer.</a:t>
            </a:r>
          </a:p>
        </p:txBody>
      </p:sp>
      <p:sp>
        <p:nvSpPr>
          <p:cNvPr id="8" name="Rectangle 7"/>
          <p:cNvSpPr/>
          <p:nvPr/>
        </p:nvSpPr>
        <p:spPr>
          <a:xfrm>
            <a:off x="658368" y="2514600"/>
            <a:ext cx="128016" cy="128016"/>
          </a:xfrm>
          <a:prstGeom prst="rect">
            <a:avLst/>
          </a:prstGeom>
          <a:solidFill>
            <a:srgbClr val="1B86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24128" y="2368296"/>
            <a:ext cx="10509199" cy="6217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600" b="0" i="0">
                <a:solidFill>
                  <a:srgbClr val="1A1F2B"/>
                </a:solidFill>
                <a:latin typeface="Calibri"/>
              </a:rPr>
              <a:t>Local connectivity: a unit sees a small patch, because pixels far apart are weakly related.</a:t>
            </a:r>
          </a:p>
        </p:txBody>
      </p:sp>
      <p:sp>
        <p:nvSpPr>
          <p:cNvPr id="10" name="Rectangle 9"/>
          <p:cNvSpPr/>
          <p:nvPr/>
        </p:nvSpPr>
        <p:spPr>
          <a:xfrm>
            <a:off x="658368" y="3191256"/>
            <a:ext cx="128016" cy="128016"/>
          </a:xfrm>
          <a:prstGeom prst="rect">
            <a:avLst/>
          </a:prstGeom>
          <a:solidFill>
            <a:srgbClr val="1B86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24128" y="3044952"/>
            <a:ext cx="10509199" cy="6217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600" b="0" i="0">
                <a:solidFill>
                  <a:srgbClr val="1A1F2B"/>
                </a:solidFill>
                <a:latin typeface="Calibri"/>
              </a:rPr>
              <a:t>out = floor((in + 2*padding - dilation*(kernel - 1) - 1) / stride) + 1.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58368" y="3867912"/>
            <a:ext cx="128016" cy="128016"/>
          </a:xfrm>
          <a:prstGeom prst="rect">
            <a:avLst/>
          </a:prstGeom>
          <a:solidFill>
            <a:srgbClr val="1B86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24128" y="3721608"/>
            <a:ext cx="10509199" cy="6217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600" b="0" i="0">
                <a:solidFill>
                  <a:srgbClr val="1A1F2B"/>
                </a:solidFill>
                <a:latin typeface="Calibri"/>
              </a:rPr>
              <a:t>Max pooling gives small-translation invariance and reduces computation.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58368" y="4544568"/>
            <a:ext cx="128016" cy="128016"/>
          </a:xfrm>
          <a:prstGeom prst="rect">
            <a:avLst/>
          </a:prstGeom>
          <a:solidFill>
            <a:srgbClr val="1B86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24128" y="4398264"/>
            <a:ext cx="10509199" cy="6217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600" b="0" i="0">
                <a:solidFill>
                  <a:srgbClr val="1A1F2B"/>
                </a:solidFill>
                <a:latin typeface="Calibri"/>
              </a:rPr>
              <a:t>Stacking two 3x3 layers gives a 5x5 receptive field with fewer parameters than one 5x5 layer.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58368" y="5221224"/>
            <a:ext cx="128016" cy="128016"/>
          </a:xfrm>
          <a:prstGeom prst="rect">
            <a:avLst/>
          </a:prstGeom>
          <a:solidFill>
            <a:srgbClr val="1B86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24128" y="5074920"/>
            <a:ext cx="10509199" cy="6217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600" b="0" i="0">
                <a:solidFill>
                  <a:srgbClr val="1A1F2B"/>
                </a:solidFill>
                <a:latin typeface="Calibri"/>
              </a:rPr>
              <a:t>Layer 1: oriented edges and colour blobs - remarkably close to Gabor filters, every time.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58368" y="5852160"/>
            <a:ext cx="10874959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400" b="1" i="0">
                <a:solidFill>
                  <a:srgbClr val="1B866B"/>
                </a:solidFill>
                <a:latin typeface="Calibri"/>
              </a:rPr>
              <a:t>Next — Lecture 06: Modern CNN Architectures and Transfer Learning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58368" y="6382512"/>
            <a:ext cx="10874959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000" b="0" i="0">
                <a:solidFill>
                  <a:srgbClr val="5A6375"/>
                </a:solidFill>
                <a:latin typeface="Calibri"/>
              </a:rPr>
              <a:t>DL-601  |  Lecture 05  |  Part II - Convolutional Vision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