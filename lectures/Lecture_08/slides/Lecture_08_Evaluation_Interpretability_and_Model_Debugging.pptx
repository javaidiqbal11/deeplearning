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716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866B"/>
                </a:solidFill>
                <a:latin typeface="Calibri"/>
              </a:rPr>
              <a:t>DL-601  ·  Part II - Convolutional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5A6375"/>
                </a:solidFill>
                <a:latin typeface="Calibri"/>
              </a:rPr>
              <a:t>Lecture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81425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1A1F2B"/>
                </a:solidFill>
                <a:latin typeface="Calibri"/>
              </a:rPr>
              <a:t>Evaluation, Interpretability and Model Debugging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06908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5A6375"/>
                </a:solidFill>
                <a:latin typeface="Calibri"/>
              </a:rPr>
              <a:t>Accuracy is one number. It is rarely the one you need.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4846320"/>
            <a:ext cx="18288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212080"/>
            <a:ext cx="100885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375"/>
                </a:solidFill>
                <a:latin typeface="Calibri"/>
              </a:rPr>
              <a:t>Deep Learning — Foundations, Computer Vision and Production Systems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A6375"/>
                </a:solidFill>
                <a:latin typeface="Calibri"/>
              </a:rPr>
              <a:t>Senior AI Engineer, Course Instructor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BY THE END OF THIS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83080"/>
            <a:ext cx="384048" cy="384048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746504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Select metrics appropriate to class imbalance and to the cost structure of the errors.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15768"/>
            <a:ext cx="384048" cy="384048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76148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679192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Assess calibration and correct it with temperature scaling.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648456"/>
            <a:ext cx="384048" cy="384048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69417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611880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Implement saliency maps and Grad-CAM and read them critically.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81144"/>
            <a:ext cx="384048" cy="384048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626864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544568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Follow a systematic debugging protocol instead of changing hyper-parameters at random.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08  |  Part II - Convolutional Vision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WHERE WE ARE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28216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4168" y="1728216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Beyond accuracy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276856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331720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The confusion matrix is the first diagnostic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880360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935224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935224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Calibration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83864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538728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538728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Interpretability methods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87368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142232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4142232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Shortcut learning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9087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745736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66B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745736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A debugging protocol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294376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422392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A6375"/>
                </a:solidFill>
                <a:latin typeface="Calibri"/>
              </a:rPr>
              <a:t>Then: hands-on lab  →  shapes_32.npz, shapes_det.npz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08  |  Part II - Convolutional Vision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Beyond accuracy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Beyond accuracy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With 99% negatives, a model predicting 'negative' always scores 99%. Accuracy is worthless there.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Precision, recall, F1; macro-average treats classes equally, micro-average weights by frequency.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ROC-AUC is threshold-free; PR-AUC is the honest choice under heavy imbalance.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Top-5 accuracy matters when classes are genuinely ambiguous.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08  |  Part II - Convolutional Vision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confusion matrix is the first diagnostic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The confusion matrix is the first diagnostic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It converts one number into a map of which classes are being confused for which.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Systematic off-diagonal mass points at a labelling problem or a genuine visual ambiguity.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Always inspect the highest-confidence errors by eye. They are the most informative images you have.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08  |  Part II - Convolutional Vision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Calibration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 well-calibrated model that says 0.8 is right 80% of the time. Modern networks are badly over-confident.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Reliability diagram: bin by confidence, plot accuracy against mean confidence per bin.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Expected calibration error summarises the gap in a single number.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Temperature scaling divides logits by a single learned T tuned on validation. Simple and effective.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08  |  Part II - Convolutional Vision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Interpretability methods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Interpretability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753465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Vanilla saliency: the gradient of the class score with respect to the input pixels. Noisy but instant.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73121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73121"/>
            <a:ext cx="44450" cy="753465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64561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Grad-CAM: weight the last conv feature maps by their gradients; coarse, class-discriminative, robust.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491179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491179"/>
            <a:ext cx="44450" cy="753465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82619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Occlusion sensitivity: slide a grey patch and watch the score drop. Slow, model-agnostic, trustworthy.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409236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409236"/>
            <a:ext cx="44450" cy="753465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00676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Integrated gradients satisfies useful axioms that raw gradients do not.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32729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327294"/>
            <a:ext cx="44450" cy="753465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1873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Caveat: saliency maps have failed sanity checks - some look plausible on a randomly initialised network.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08  |  Part II - Convolutional Vision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Shortcut learning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Shortcut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Models exploit whatever correlates with the label, including artefacts you never intended.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Classic failures: hospital tokens in X-rays, snow in husky images, watermarks in scraped data.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Grad-CAM outside the object is the signature. Test on data where the shortcut is broken.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08  |  Part II - Convolutional Vision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A debugging protocol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LECTURE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A debugging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1. Overfit a single batch. If the loss will not reach zero, the bug is in the model or the loss.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2. Check the initial loss equals -log(1/num_classes) for a balanced problem.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3. Verify shapes, label alignment and the normalisation applied at train and at inference.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4. Only then tune the learning rate, the capacity and the regularisation - in that order.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08  |  Part II - Convolutional Vision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Hands-on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737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50800" cy="173736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856232"/>
            <a:ext cx="1028974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Build a full evaluation report for the Lecture 6 model: per-class metrics, confusion matrix, highest-confidence errors, reliability diagram with temperature scaling, saliency and Grad-CAM. Then diagnose a deliberately shortcut-corrupted dataset and prove the shortcut with Grad-CAM.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6667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866B"/>
                </a:solidFill>
                <a:latin typeface="Calibri"/>
              </a:rPr>
              <a:t>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3666744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notebooks/L08_Evaluation_Interpretability_and_Model_Debugg.ipynb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4223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866B"/>
                </a:solidFill>
                <a:latin typeface="Calibri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4142232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shapes_32.npz, shapes_det.npz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617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866B"/>
                </a:solidFill>
                <a:latin typeface="Calibri"/>
              </a:rPr>
              <a:t>Helpers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21408" y="4617720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from dlcourse import load_shapes, train, evaluate, show_grid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08  |  Part II - Convolutional Vision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DUE BEFORE THE NEXT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Your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5506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866B"/>
                </a:solidFill>
                <a:latin typeface="Calibri"/>
              </a:rPr>
              <a:t>CORE — all 6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1.  Full metric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505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2.  Error gallery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6207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3.  Reliability diagram and ECE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7355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4.  Temperature scaling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8503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5.  Grad-CAM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0965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6.  Catch the shortcut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165506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A6375"/>
                </a:solidFill>
                <a:latin typeface="Calibri"/>
              </a:rPr>
              <a:t>STRETCH — 2 optional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203911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1.  Occlusion sensitivity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45059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2.  Saliency sanity 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978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A6375"/>
                </a:solidFill>
                <a:latin typeface="Calibri"/>
              </a:rPr>
              <a:t>Full instructions: tasks/Lecture_08_Tasks.md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08  |  Part II - Convolutional Vision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B866B"/>
                </a:solidFill>
                <a:latin typeface="Calibri"/>
              </a:rPr>
              <a:t>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1764792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Guo et al. (2017), On Calibration of Modern Neural Networks.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317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B866B"/>
                </a:solidFill>
                <a:latin typeface="Calibri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331720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Selvaraju et al. (2017), Grad-CAM.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9864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B866B"/>
                </a:solidFill>
                <a:latin typeface="Calibri"/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98648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Adebayo et al. (2018), Sanity Checks for Saliency Maps.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465576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B866B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465576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Geirhos et al. (2020), Shortcut Learning in Deep Neural Networks.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08  |  Part II - Convolutional Vision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866B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What to take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37944"/>
            <a:ext cx="128016" cy="128016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691640"/>
            <a:ext cx="10509199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With 99% negatives, a model predicting 'negative' always scores 99%. Accuracy is worthless there.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14600"/>
            <a:ext cx="128016" cy="128016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368296"/>
            <a:ext cx="10509199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It converts one number into a map of which classes are being confused for which.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191256"/>
            <a:ext cx="128016" cy="128016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044952"/>
            <a:ext cx="10509199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A well-calibrated model that says 0.8 is right 80% of the time. Modern networks are badly over-confident.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67912"/>
            <a:ext cx="128016" cy="128016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721608"/>
            <a:ext cx="10509199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Vanilla saliency: the gradient of the class score with respect to the input pixels. Noisy but instant.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44568"/>
            <a:ext cx="128016" cy="128016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4398264"/>
            <a:ext cx="10509199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Models exploit whatever correlates with the label, including artefacts you never intended.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221224"/>
            <a:ext cx="128016" cy="128016"/>
          </a:xfrm>
          <a:prstGeom prst="rect">
            <a:avLst/>
          </a:prstGeom>
          <a:solidFill>
            <a:srgbClr val="1B8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5074920"/>
            <a:ext cx="10509199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1. Overfit a single batch. If the loss will not reach zero, the bug is in the model or the loss.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8521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866B"/>
                </a:solidFill>
                <a:latin typeface="Calibri"/>
              </a:rPr>
              <a:t>Next — Lecture 09: Serving Deep Learning Models with FastAPI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08  |  Part II - Convolutional Vision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