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37160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4A5265"/>
                </a:solidFill>
                <a:latin typeface="Calibri"/>
              </a:rPr>
              <a:t>DL-601  ·  Part 0 - Machine Learning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100885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5A6375"/>
                </a:solidFill>
                <a:latin typeface="Calibri"/>
              </a:rPr>
              <a:t>Lecture 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286000"/>
            <a:ext cx="981425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1A1F2B"/>
                </a:solidFill>
                <a:latin typeface="Calibri"/>
              </a:rPr>
              <a:t>Machine Learning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069080"/>
            <a:ext cx="98142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5A6375"/>
                </a:solidFill>
                <a:latin typeface="Calibri"/>
              </a:rPr>
              <a:t>What a model is, how it learns, and how you know it worked.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4846320"/>
            <a:ext cx="1828800" cy="4445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212080"/>
            <a:ext cx="100885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5A6375"/>
                </a:solidFill>
                <a:latin typeface="Calibri"/>
              </a:rPr>
              <a:t>Deep Learning — Foundations, Computer Vision and Production Systems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375"/>
                </a:solidFill>
                <a:latin typeface="Calibri"/>
              </a:rPr>
              <a:t>Senior AI Engineer, Course Instructor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4A5265"/>
                </a:solidFill>
                <a:latin typeface="Calibri"/>
              </a:rPr>
              <a:t>BY THE END OF THIS LECTURE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783080"/>
            <a:ext cx="384048" cy="384048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82880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1746504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Define machine learning, and say when it is the right tool and when it is not.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715768"/>
            <a:ext cx="384048" cy="384048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76148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736" y="2679192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Explain features and labels, and the difference between supervised and unsupervised learning.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648456"/>
            <a:ext cx="384048" cy="384048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694176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3611880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Split data correctly, and explain why the test set is touched exactly once.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581144"/>
            <a:ext cx="384048" cy="384048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626864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4544568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Recognise underfitting and overfitting, and describe the bias-variance trade-off.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5513832"/>
            <a:ext cx="384048" cy="384048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5559552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16736" y="5477256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Train and evaluate a classifier with scikit-learn, and read its confusion matrix.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00  |  Part 0 - Machine Learning Foundations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4A5265"/>
                </a:solidFill>
                <a:latin typeface="Calibri"/>
              </a:rPr>
              <a:t>WHERE WE ARE GOING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28216"/>
            <a:ext cx="502920" cy="398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4A5265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728216"/>
            <a:ext cx="10189159" cy="398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What machine learning is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144776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199640"/>
            <a:ext cx="502920" cy="398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4A5265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2199640"/>
            <a:ext cx="10189159" cy="398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The three kinds of learning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616200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671064"/>
            <a:ext cx="502920" cy="398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4A5265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2671064"/>
            <a:ext cx="10189159" cy="398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Features, labels and the dataset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87624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142488"/>
            <a:ext cx="502920" cy="398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4A5265"/>
                </a:solidFill>
                <a:latin typeface="Calibr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142488"/>
            <a:ext cx="10189159" cy="398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How a model actually learns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559048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613912"/>
            <a:ext cx="502920" cy="398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4A5265"/>
                </a:solidFill>
                <a:latin typeface="Calibr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3613912"/>
            <a:ext cx="10189159" cy="398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Train, validation and test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030472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085336"/>
            <a:ext cx="502920" cy="398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4A5265"/>
                </a:solidFill>
                <a:latin typeface="Calibri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4168" y="4085336"/>
            <a:ext cx="10189159" cy="398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Underfitting, overfitting and the trade-off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501896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556760"/>
            <a:ext cx="502920" cy="398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4A5265"/>
                </a:solidFill>
                <a:latin typeface="Calibri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4168" y="4556760"/>
            <a:ext cx="10189159" cy="398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Measuring success honestly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973320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5028184"/>
            <a:ext cx="502920" cy="398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4A5265"/>
                </a:solidFill>
                <a:latin typeface="Calibri"/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28184"/>
            <a:ext cx="10189159" cy="398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From classical ML to deep learning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444744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572760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A6375"/>
                </a:solidFill>
                <a:latin typeface="Calibri"/>
              </a:rPr>
              <a:t>Then: hands-on lab  →  scikit-learn iris (bundled with the library), digits_8x8.npz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00  |  Part 0 - Machine Learning Foundations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What machine learning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4A5265"/>
                </a:solidFill>
                <a:latin typeface="Calibri"/>
              </a:rPr>
              <a:t>LECTURE 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What machine learning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Traditional programming: you write the rules, the computer applies them.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Machine learning: you supply examples, and the computer works out the rules.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Use it when real rules exist but are too complex to write down - recognising a cat, say.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Do not use it when a simple rule works, when you have no data, or when being occasionally wrong is unacceptable.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00  |  Part 0 - Machine Learning Foundations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The three kinds of learning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4A5265"/>
                </a:solidFill>
                <a:latin typeface="Calibri"/>
              </a:rPr>
              <a:t>LECTURE 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The three kinds of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Supervised: learn from labelled examples. Classification asks which class, regression asks how much.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Unsupervised: find structure in unlabelled data - clustering, dimensionality reduction.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Reinforcement: learn from rewards by acting in an environment.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This course is almost entirely supervised learning, which is where deep learning works best.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00  |  Part 0 - Machine Learning Foundations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Features, labels and the dataset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4A5265"/>
                </a:solidFill>
                <a:latin typeface="Calibri"/>
              </a:rPr>
              <a:t>LECTURE 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Features, labels and the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A dataset is a table: one row per example, one column per feature, plus a label column.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X is the feature matrix with shape (n_samples, n_features); y is the label vector.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Classical ML needs features designed by hand. Deep learning learns them - that is the whole difference.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No algorithm recovers from features that do not carry the signal.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00  |  Part 0 - Machine Learning Foundations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How a model actually learns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4A5265"/>
                </a:solidFill>
                <a:latin typeface="Calibri"/>
              </a:rPr>
              <a:t>LECTURE 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How a model actually learns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A model is a function with adjustable numbers inside it, called parameters.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A loss function scores how wrong the current predictions 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Training means adjusting the parameters until the loss is small.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Gradient descent does that by repeatedly stepping downhill on the loss. Everything in this course is a variation on that one idea.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00  |  Part 0 - Machine Learning Foundations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Train, validation and test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4A5265"/>
                </a:solidFill>
                <a:latin typeface="Calibri"/>
              </a:rPr>
              <a:t>LECTURE 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Train, validation and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Train fits the parameters. Validation selects hyper-parameters. Test is touched once.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Evaluating on training data measures memorisation, not learning.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Data leakage is any information crossing from test into training, and it silently inflates every number you report.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If you tune against the test set, it stops being a test set.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00  |  Part 0 - Machine Learning Foundations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Underfitting, overfitting and the trade-off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4A5265"/>
                </a:solidFill>
                <a:latin typeface="Calibri"/>
              </a:rPr>
              <a:t>LECTURE 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Underfitting, overfitting and the trade-off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Underfitting: the model is too simple. Both training and test scores are poor.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Overfitting: the model memorises the training data. Training score high, test score poor.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Bias is error from wrong assumptions; variance is error from sensitivity to the particular sample you trained 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More capacity lowers bias and raises variance. Finding the balance is the job.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00  |  Part 0 - Machine Learning Foundations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Measuring success honestly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4A5265"/>
                </a:solidFill>
                <a:latin typeface="Calibri"/>
              </a:rPr>
              <a:t>LECTURE 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Measuring success honestly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Accuracy is the fraction correct, and it is useless when the classes are imbalanced.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Precision: of what you flagged, how much was right. Recall: of what was there, how much you found.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F1 combines the two; the confusion matrix shows exactly which classes get mixed up.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Always compare against a baseline - chance, or always predicting the majority class.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00  |  Part 0 - Machine Learning Foundations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From classical ML to deep learning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4A5265"/>
                </a:solidFill>
                <a:latin typeface="Calibri"/>
              </a:rPr>
              <a:t>LECTURE 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From classical ML to deep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Classical models do well on tabular data with good hand-designed features.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On raw pixels, audio or text they struggle, because the useful features are not in the raw values.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Deep learning replaces feature engineering with feature learning, given enough data.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That is the bridge into Lecture 1, where the data becomes images.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00  |  Part 0 - Machine Learning Foundations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4A5265"/>
                </a:solidFill>
                <a:latin typeface="Calibri"/>
              </a:rPr>
              <a:t>NOTEBOOK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Hands-on lab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1737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50800" cy="173736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856232"/>
            <a:ext cx="1028974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Walk the complete machine learning workflow on two small real datasets: load and explore the data, split it honestly, train k-nearest neighbours, a decision tree and logistic regression, compare them against a baseline, watch overfitting appear as model complexity grows, read a confusion matrix, and finish by seeing where hand-designed features run out on raw images - which is exactly why the rest of the course exists.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66674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4A5265"/>
                </a:solidFill>
                <a:latin typeface="Calibri"/>
              </a:rPr>
              <a:t>Notebook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1408" y="3666744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notebooks/L00_Machine_Learning_Foundations.ipynb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14223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4A5265"/>
                </a:solidFill>
                <a:latin typeface="Calibri"/>
              </a:rP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4142232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scikit-learn iris (bundled with the library), digits_8x8.npz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6177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4A5265"/>
                </a:solidFill>
                <a:latin typeface="Calibri"/>
              </a:rPr>
              <a:t>Helpers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4617720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from dlcourse import load_shapes, train, evaluate, show_grid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00  |  Part 0 - Machine Learning Foundations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4A5265"/>
                </a:solidFill>
                <a:latin typeface="Calibri"/>
              </a:rPr>
              <a:t>DUE BEFORE THE NEXT LECTURE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Your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5506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4A5265"/>
                </a:solidFill>
                <a:latin typeface="Calibri"/>
              </a:rPr>
              <a:t>CORE — all 7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3911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1.  Explore a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45059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2.  Split the data honestly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6207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3.  Train three classifiers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7355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4.  Beat the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68503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5.  Make a model overfit on purpose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09651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6.  Read a confusion matrix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50799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7.  Where hand-designed features run 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1655064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A6375"/>
                </a:solidFill>
                <a:latin typeface="Calibri"/>
              </a:rPr>
              <a:t>STRETCH — 2 optional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2039112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5A6375"/>
                </a:solidFill>
                <a:latin typeface="Calibri"/>
              </a:rPr>
              <a:t>1.  Cross-validation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450592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5A6375"/>
                </a:solidFill>
                <a:latin typeface="Calibri"/>
              </a:rPr>
              <a:t>2.  Feature scaling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897880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A6375"/>
                </a:solidFill>
                <a:latin typeface="Calibri"/>
              </a:rPr>
              <a:t>Full instructions: tasks/Lecture_00_Tasks.md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00  |  Part 0 - Machine Learning Foundations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4A5265"/>
                </a:solidFill>
                <a:latin typeface="Calibri"/>
              </a:rPr>
              <a:t>GO DEEPER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64792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4A5265"/>
                </a:solidFill>
                <a:latin typeface="Calibri"/>
              </a:rPr>
              <a:t>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1764792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Geron, Hands-On Machine Learning with Scikit-Learn, Keras and TensorFlow, Chapters 1-2.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317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4A5265"/>
                </a:solidFill>
                <a:latin typeface="Calibri"/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331720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scikit-learn documentation: An Introduction to Machine Learning with scikit-learn.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89864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4A5265"/>
                </a:solidFill>
                <a:latin typeface="Calibri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898648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Goodfellow, Bengio &amp; Courville, Deep Learning, Sections 5.1-5.5.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00  |  Part 0 - Machine Learning Foundations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4A5265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What to take away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837944"/>
            <a:ext cx="128016" cy="128016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691640"/>
            <a:ext cx="10509199" cy="4526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alibri"/>
              </a:rPr>
              <a:t>Traditional programming: you write the rules, the computer applies them.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345436"/>
            <a:ext cx="128016" cy="128016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199132"/>
            <a:ext cx="10509199" cy="4526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alibri"/>
              </a:rPr>
              <a:t>Supervised: learn from labelled examples. Classification asks which class, regression asks how much.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852928"/>
            <a:ext cx="128016" cy="128016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706624"/>
            <a:ext cx="10509199" cy="4526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alibri"/>
              </a:rPr>
              <a:t>A dataset is a table: one row per example, one column per feature, plus a label column.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360420"/>
            <a:ext cx="128016" cy="128016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214116"/>
            <a:ext cx="10509199" cy="4526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alibri"/>
              </a:rPr>
              <a:t>A model is a function with adjustable numbers inside it, called parameters.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867912"/>
            <a:ext cx="128016" cy="128016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721608"/>
            <a:ext cx="10509199" cy="4526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alibri"/>
              </a:rPr>
              <a:t>Train fits the parameters. Validation selects hyper-parameters. Test is touched once.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375404"/>
            <a:ext cx="128016" cy="128016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229100"/>
            <a:ext cx="10509199" cy="4526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alibri"/>
              </a:rPr>
              <a:t>Underfitting: the model is too simple. Both training and test scores are poor.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882896"/>
            <a:ext cx="128016" cy="128016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4736592"/>
            <a:ext cx="10509199" cy="4526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alibri"/>
              </a:rPr>
              <a:t>Accuracy is the fraction correct, and it is useless when the classes are imbalanced.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5390388"/>
            <a:ext cx="128016" cy="128016"/>
          </a:xfrm>
          <a:prstGeom prst="rect">
            <a:avLst/>
          </a:prstGeom>
          <a:solidFill>
            <a:srgbClr val="4A5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5244084"/>
            <a:ext cx="10509199" cy="4526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alibri"/>
              </a:rPr>
              <a:t>Classical models do well on tabular data with good hand-designed features.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85216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4A5265"/>
                </a:solidFill>
                <a:latin typeface="Calibri"/>
              </a:rPr>
              <a:t>Next — Lecture 01: Deep Learning Foundations and the Image Data 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00  |  Part 0 - Machine Learning Foundations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