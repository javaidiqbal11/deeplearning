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37160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B866B"/>
                </a:solidFill>
                <a:latin typeface="Calibri"/>
              </a:rPr>
              <a:t>DL-601  ·  Part II - Convolutional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828800"/>
            <a:ext cx="100885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5A6375"/>
                </a:solidFill>
                <a:latin typeface="Calibri"/>
              </a:rPr>
              <a:t>Lecture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286000"/>
            <a:ext cx="9814255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1A1F2B"/>
                </a:solidFill>
                <a:latin typeface="Calibri"/>
              </a:rPr>
              <a:t>Modern CNN Architectures and Transfer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069080"/>
            <a:ext cx="98142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5A6375"/>
                </a:solidFill>
                <a:latin typeface="Calibri"/>
              </a:rPr>
              <a:t>ResNet, and why fine-tuning beats training from scratch almost every time.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4846320"/>
            <a:ext cx="1828800" cy="4445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212080"/>
            <a:ext cx="100885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5A6375"/>
                </a:solidFill>
                <a:latin typeface="Calibri"/>
              </a:rPr>
              <a:t>Deep Learning — Foundations, Computer Vision and Production Systems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375"/>
                </a:solidFill>
                <a:latin typeface="Calibri"/>
              </a:rPr>
              <a:t>Senior AI Engineer, Course Instructor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866B"/>
                </a:solidFill>
                <a:latin typeface="Calibri"/>
              </a:rPr>
              <a:t>BY THE END OF THIS LECTURE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783080"/>
            <a:ext cx="384048" cy="384048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82880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736" y="1746504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Trace the architectural lineage from LeNet through AlexNet, VGG and Inception to ResNet.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715768"/>
            <a:ext cx="384048" cy="384048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761488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6736" y="2679192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Explain the degradation problem and how residual connections resolve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648456"/>
            <a:ext cx="384048" cy="384048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694176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3611880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Implement a residual block and a small ResNet from scratch.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581144"/>
            <a:ext cx="384048" cy="384048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626864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6736" y="4544568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Choose correctly between feature extraction and fine-tuning given dataset size and domain distance.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06  |  Part II - Convolutional Vision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866B"/>
                </a:solidFill>
                <a:latin typeface="Calibri"/>
              </a:rPr>
              <a:t>WHERE WE ARE GOING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64792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866B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1783080"/>
            <a:ext cx="101891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The architecture lineage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267712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368296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866B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2386584"/>
            <a:ext cx="101891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The degradation problem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871216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971800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866B"/>
                </a:solidFill>
                <a:latin typeface="Calibr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2990088"/>
            <a:ext cx="101891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Building blocks worth knowing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474720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575304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866B"/>
                </a:solidFill>
                <a:latin typeface="Calibri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593592"/>
            <a:ext cx="101891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Transfer learning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078224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178808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866B"/>
                </a:solidFill>
                <a:latin typeface="Calibri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4168" y="4197096"/>
            <a:ext cx="101891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Choosing a strategy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4681728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892040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5A6375"/>
                </a:solidFill>
                <a:latin typeface="Calibri"/>
              </a:rPr>
              <a:t>Then: hands-on lab  →  shapes_32.npz, shapes_imagefolder/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06  |  Part II - Convolutional Vision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The architecture lineage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866B"/>
                </a:solidFill>
                <a:latin typeface="Calibri"/>
              </a:rPr>
              <a:t>LECTURE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The architecture lineage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75346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753465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LeNet-5 (1998): the template - conv, pool, conv, pool, dense.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573121"/>
            <a:ext cx="10874959" cy="75346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573121"/>
            <a:ext cx="44450" cy="753465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64561"/>
            <a:ext cx="10417759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AlexNet (2012): ReLU, dropout, GPUs, augmentation. The result that restarted the field.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491179"/>
            <a:ext cx="10874959" cy="75346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491179"/>
            <a:ext cx="44450" cy="753465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82619"/>
            <a:ext cx="10417759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VGG (2014): only 3x3 convolutions, uniform and deep. Enormous - 138M parameters.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409236"/>
            <a:ext cx="10874959" cy="75346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4409236"/>
            <a:ext cx="44450" cy="753465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00676"/>
            <a:ext cx="10417759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Inception/GoogLeNet (2014): parallel multi-scale branches, 1x1 convolutions for cheap channel mixing.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5327294"/>
            <a:ext cx="10874959" cy="75346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5327294"/>
            <a:ext cx="44450" cy="753465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418734"/>
            <a:ext cx="10417759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ResNet (2015): residual connections made 152 layers trainable and won ImageNet at 3.57% top-5 error.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06  |  Part II - Convolutional Vision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The degradation problem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866B"/>
                </a:solidFill>
                <a:latin typeface="Calibri"/>
              </a:rPr>
              <a:t>LECTURE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The degradation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98298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A 56-layer plain network had higher *training* error than a 20-layer one. Not overfitting - optimisation.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802636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802636"/>
            <a:ext cx="44450" cy="98298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94076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Deeper networks should be at least as good: the extra layers could learn the identity. They did not.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950208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950208"/>
            <a:ext cx="44450" cy="98298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Residual block: y = F(x) + x. Learning F = 0 is easy, so the identity is the default behaviour.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97780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097780"/>
            <a:ext cx="44450" cy="98298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89220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The skip connection also gives gradients an unobstructed path back to the early layers.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06  |  Part II - Convolutional Vision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Building blocks worth knowing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866B"/>
                </a:solidFill>
                <a:latin typeface="Calibri"/>
              </a:rPr>
              <a:t>LECTURE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Building blocks worth knowing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98298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1x1 convolution: channel mixing and dimensionality reduction at negligible spatial cost.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802636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802636"/>
            <a:ext cx="44450" cy="98298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94076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Bottleneck block: 1x1 reduce, 3x3 process, 1x1 expand - the workhorse of ResNet-50 and deeper.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950208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950208"/>
            <a:ext cx="44450" cy="98298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Depthwise separable convolution: MobileNet's trick, 8-9x cheaper than standard convolution.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97780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097780"/>
            <a:ext cx="44450" cy="98298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89220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Squeeze-and-excitation: learned per-channel attention, a cheap and reliable accuracy gain.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06  |  Part II - Convolutional Vision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Transfer learning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866B"/>
                </a:solidFill>
                <a:latin typeface="Calibri"/>
              </a:rPr>
              <a:t>LECTURE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Transfer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75346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753465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Early layers learn generic features (edges, textures) that transfer across almost any image domain.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573121"/>
            <a:ext cx="10874959" cy="75346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573121"/>
            <a:ext cx="44450" cy="753465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64561"/>
            <a:ext cx="10417759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Late layers are task-specific and are the ones to replace.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491179"/>
            <a:ext cx="10874959" cy="75346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491179"/>
            <a:ext cx="44450" cy="753465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82619"/>
            <a:ext cx="10417759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Feature extraction: freeze the backbone, train a new head. Right for small or similar datasets.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409236"/>
            <a:ext cx="10874959" cy="75346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4409236"/>
            <a:ext cx="44450" cy="753465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00676"/>
            <a:ext cx="10417759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Fine-tuning: unfreeze some or all layers at a low learning rate (typically 10x lower).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5327294"/>
            <a:ext cx="10874959" cy="75346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5327294"/>
            <a:ext cx="44450" cy="753465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418734"/>
            <a:ext cx="10417759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Discriminative learning rates: lower for early layers, higher for late ones.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06  |  Part II - Convolutional Vision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Choosing a strategy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866B"/>
                </a:solidFill>
                <a:latin typeface="Calibri"/>
              </a:rPr>
              <a:t>LECTURE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Choosing a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98298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Small data, similar domain: freeze the backbone, train a linear head.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802636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802636"/>
            <a:ext cx="44450" cy="98298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94076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Large data, similar domain: fine-tune everything.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950208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950208"/>
            <a:ext cx="44450" cy="98298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Small data, distant domain: fine-tune the middle layers; the very late features may not transfer.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97780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097780"/>
            <a:ext cx="44450" cy="98298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89220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Large data, distant domain: fine-tuning still usually beats random initialisation on convergence speed.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06  |  Part II - Convolutional Vision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866B"/>
                </a:solidFill>
                <a:latin typeface="Calibri"/>
              </a:rPr>
              <a:t>NOTEBOOK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Hands-on lab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17373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50800" cy="173736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856232"/>
            <a:ext cx="10289743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Implement a residual block and a small ResNet, empirically reproduce the degradation problem with a 20- versus 40-layer plain network, then run the transfer-learning comparison: a source model pre-trained on one shape subset, transferred to a 100-example target task, versus training from scratch.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666744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B866B"/>
                </a:solidFill>
                <a:latin typeface="Calibri"/>
              </a:rPr>
              <a:t>Notebook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21408" y="3666744"/>
            <a:ext cx="94119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F2B"/>
                </a:solidFill>
                <a:latin typeface="Consolas"/>
              </a:rPr>
              <a:t>notebooks/L06_Modern_CNN_Architectures_and_Transfer_Learni.ipynb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14223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B866B"/>
                </a:solidFill>
                <a:latin typeface="Calibri"/>
              </a:rP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1408" y="4142232"/>
            <a:ext cx="94119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F2B"/>
                </a:solidFill>
                <a:latin typeface="Consolas"/>
              </a:rPr>
              <a:t>shapes_32.npz, shapes_imagefolder/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6177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B866B"/>
                </a:solidFill>
                <a:latin typeface="Calibri"/>
              </a:rPr>
              <a:t>Helpers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4617720"/>
            <a:ext cx="94119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F2B"/>
                </a:solidFill>
                <a:latin typeface="Consolas"/>
              </a:rPr>
              <a:t>from dlcourse import load_shapes, train, evaluate, show_grid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06  |  Part II - Convolutional Vision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866B"/>
                </a:solidFill>
                <a:latin typeface="Calibri"/>
              </a:rPr>
              <a:t>DUE BEFORE THE NEXT LECTURE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Your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55064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B866B"/>
                </a:solidFill>
                <a:latin typeface="Calibri"/>
              </a:rPr>
              <a:t>CORE — all 5 required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3911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1.  Residual block from scratch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45059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2.  Reproduce the degradation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86207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3.  Small ResNet on shapes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7355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4.  Feature extraction versus fine-tuning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68503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5.  How many layers to unfreeze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1655064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5A6375"/>
                </a:solidFill>
                <a:latin typeface="Calibri"/>
              </a:rPr>
              <a:t>STRETCH — 2 optional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2039112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5A6375"/>
                </a:solidFill>
                <a:latin typeface="Calibri"/>
              </a:rPr>
              <a:t>1.  1x1 bottleneck cost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2450592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5A6375"/>
                </a:solidFill>
                <a:latin typeface="Calibri"/>
              </a:rPr>
              <a:t>2.  Depthwise separable convolution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897880"/>
            <a:ext cx="108749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A6375"/>
                </a:solidFill>
                <a:latin typeface="Calibri"/>
              </a:rPr>
              <a:t>Full instructions: tasks/Lecture_06_Tasks.md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06  |  Part II - Convolutional Vision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866B"/>
                </a:solidFill>
                <a:latin typeface="Calibri"/>
              </a:rPr>
              <a:t>GO DEEPER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Reading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64792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B866B"/>
                </a:solidFill>
                <a:latin typeface="Calibri"/>
              </a:rPr>
              <a:t>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1764792"/>
            <a:ext cx="104634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He et al. (2016), Deep Residual Learning for Image Recognition.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317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B866B"/>
                </a:solidFill>
                <a:latin typeface="Calibri"/>
              </a:rPr>
              <a:t>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331720"/>
            <a:ext cx="104634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Simonyan &amp; Zisserman (2015), Very Deep Convolutional Networks (VGG).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898648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B866B"/>
                </a:solidFill>
                <a:latin typeface="Calibri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898648"/>
            <a:ext cx="104634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Yosinski et al. (2014), How Transferable Are Features in Deep Neural Networks?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465576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B866B"/>
                </a:solidFill>
                <a:latin typeface="Calibri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3465576"/>
            <a:ext cx="104634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Howard et al. (2017), MobileNets.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06  |  Part II - Convolutional Vision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B866B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What to take away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883664"/>
            <a:ext cx="146304" cy="146304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" y="1700784"/>
            <a:ext cx="1049091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LeNet-5 (1998): the template - conv, pool, conv, pool, dense.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596896"/>
            <a:ext cx="146304" cy="146304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2414016"/>
            <a:ext cx="1049091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A 56-layer plain network had higher *training* error than a 20-layer one. Not overfitting - optimisation.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310128"/>
            <a:ext cx="146304" cy="146304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6" y="3127248"/>
            <a:ext cx="1049091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1x1 convolution: channel mixing and dimensionality reduction at negligible spatial cost.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4023360"/>
            <a:ext cx="146304" cy="146304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" y="3840480"/>
            <a:ext cx="1049091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Early layers learn generic features (edges, textures) that transfer across almost any image domain.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736592"/>
            <a:ext cx="146304" cy="146304"/>
          </a:xfrm>
          <a:prstGeom prst="rect">
            <a:avLst/>
          </a:prstGeom>
          <a:solidFill>
            <a:srgbClr val="1B8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4553712"/>
            <a:ext cx="1049091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Small data, similar domain: freeze the backbone, train a linear head.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852160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B866B"/>
                </a:solidFill>
                <a:latin typeface="Calibri"/>
              </a:rPr>
              <a:t>Next — Lecture 07: Data Augmentation, Training Recipes and Experiment Tracking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06  |  Part II - Convolutional Vision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