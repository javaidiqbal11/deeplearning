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10896" cy="685800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1371600"/>
            <a:ext cx="1008857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1F6FB2"/>
                </a:solidFill>
                <a:latin typeface="Calibri"/>
              </a:rPr>
              <a:t>DL-601  ·  Part I - Foundations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828800"/>
            <a:ext cx="1008857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5A6375"/>
                </a:solidFill>
                <a:latin typeface="Calibri"/>
              </a:rPr>
              <a:t>Lecture 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286000"/>
            <a:ext cx="9814255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4000" b="1" i="0">
                <a:solidFill>
                  <a:srgbClr val="1A1F2B"/>
                </a:solidFill>
                <a:latin typeface="Calibri"/>
              </a:rPr>
              <a:t>Training Deep Networks: Optimisation and Regularisation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4069080"/>
            <a:ext cx="981425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0" i="1">
                <a:solidFill>
                  <a:srgbClr val="5A6375"/>
                </a:solidFill>
                <a:latin typeface="Calibri"/>
              </a:rPr>
              <a:t>Everything between 'it runs' and 'it works'.</a:t>
            </a:r>
          </a:p>
        </p:txBody>
      </p:sp>
      <p:sp>
        <p:nvSpPr>
          <p:cNvPr id="8" name="Rectangle 7"/>
          <p:cNvSpPr/>
          <p:nvPr/>
        </p:nvSpPr>
        <p:spPr>
          <a:xfrm>
            <a:off x="1051560" y="4846320"/>
            <a:ext cx="1828800" cy="4445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5212080"/>
            <a:ext cx="1008857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5A6375"/>
                </a:solidFill>
                <a:latin typeface="Calibri"/>
              </a:rPr>
              <a:t>Deep Learning — Foundations, Computer Vision and Production Systems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A6375"/>
                </a:solidFill>
                <a:latin typeface="Calibri"/>
              </a:rPr>
              <a:t>Senior AI Engineer, Course Instructor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0292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1F6FB2"/>
                </a:solidFill>
                <a:latin typeface="Calibri"/>
              </a:rPr>
              <a:t>BY THE END OF THIS LECTURE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13816"/>
            <a:ext cx="10874959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A1F2B"/>
                </a:solidFill>
                <a:latin typeface="Calibri"/>
              </a:rPr>
              <a:t>Learning objectives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80744"/>
            <a:ext cx="1371600" cy="4445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58368" y="1783080"/>
            <a:ext cx="384048" cy="384048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828800"/>
            <a:ext cx="2743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16736" y="1746504"/>
            <a:ext cx="10216591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1A1F2B"/>
                </a:solidFill>
                <a:latin typeface="Calibri"/>
              </a:rPr>
              <a:t>Compare SGD, momentum, RMSProp and Adam, and state when each is the right default.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2715768"/>
            <a:ext cx="384048" cy="384048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2761488"/>
            <a:ext cx="2743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16736" y="2679192"/>
            <a:ext cx="10216591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1A1F2B"/>
                </a:solidFill>
                <a:latin typeface="Calibri"/>
              </a:rPr>
              <a:t>Choose an initialisation scheme that keeps activation variance stable with depth.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3648456"/>
            <a:ext cx="384048" cy="384048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3694176"/>
            <a:ext cx="2743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16736" y="3611880"/>
            <a:ext cx="10216591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1A1F2B"/>
                </a:solidFill>
                <a:latin typeface="Calibri"/>
              </a:rPr>
              <a:t>Apply batch normalisation, dropout and weight decay, and explain what each actually does.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4581144"/>
            <a:ext cx="384048" cy="384048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4626864"/>
            <a:ext cx="2743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16736" y="4544568"/>
            <a:ext cx="10216591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1A1F2B"/>
                </a:solidFill>
                <a:latin typeface="Calibri"/>
              </a:rPr>
              <a:t>Diagnose underfitting and overfitting from learning curves and respond correctly.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6382512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A6375"/>
                </a:solidFill>
                <a:latin typeface="Calibri"/>
              </a:rPr>
              <a:t>DL-601  |  Lecture 04  |  Part I - Foundations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0292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1F6FB2"/>
                </a:solidFill>
                <a:latin typeface="Calibri"/>
              </a:rPr>
              <a:t>WHERE WE ARE GOING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13816"/>
            <a:ext cx="10874959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A1F2B"/>
                </a:solidFill>
                <a:latin typeface="Calibri"/>
              </a:rPr>
              <a:t>Agenda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80744"/>
            <a:ext cx="1371600" cy="4445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728216"/>
            <a:ext cx="50292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1F6FB2"/>
                </a:solidFill>
                <a:latin typeface="Calibri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44168" y="1728216"/>
            <a:ext cx="10189159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1A1F2B"/>
                </a:solidFill>
                <a:latin typeface="Calibri"/>
              </a:rPr>
              <a:t>From gradient descent to Adam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2276856"/>
            <a:ext cx="10874959" cy="9525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2331720"/>
            <a:ext cx="50292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1F6FB2"/>
                </a:solidFill>
                <a:latin typeface="Calibri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44168" y="2331720"/>
            <a:ext cx="10189159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1A1F2B"/>
                </a:solidFill>
                <a:latin typeface="Calibri"/>
              </a:rPr>
              <a:t>Learning rate: the hyper-parameter that matters most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2880360"/>
            <a:ext cx="10874959" cy="9525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2935224"/>
            <a:ext cx="50292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1F6FB2"/>
                </a:solidFill>
                <a:latin typeface="Calibri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44168" y="2935224"/>
            <a:ext cx="10189159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1A1F2B"/>
                </a:solidFill>
                <a:latin typeface="Calibri"/>
              </a:rPr>
              <a:t>Initialisation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3483864"/>
            <a:ext cx="10874959" cy="9525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3538728"/>
            <a:ext cx="50292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1F6FB2"/>
                </a:solidFill>
                <a:latin typeface="Calibri"/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538728"/>
            <a:ext cx="10189159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1A1F2B"/>
                </a:solidFill>
                <a:latin typeface="Calibri"/>
              </a:rPr>
              <a:t>Normalisation layers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4087368"/>
            <a:ext cx="10874959" cy="9525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4142232"/>
            <a:ext cx="50292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1F6FB2"/>
                </a:solidFill>
                <a:latin typeface="Calibri"/>
              </a:rPr>
              <a:t>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44168" y="4142232"/>
            <a:ext cx="10189159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1A1F2B"/>
                </a:solidFill>
                <a:latin typeface="Calibri"/>
              </a:rPr>
              <a:t>Regularisation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4690872"/>
            <a:ext cx="10874959" cy="9525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4745736"/>
            <a:ext cx="50292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1F6FB2"/>
                </a:solidFill>
                <a:latin typeface="Calibri"/>
              </a:rPr>
              <a:t>06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44168" y="4745736"/>
            <a:ext cx="10189159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1A1F2B"/>
                </a:solidFill>
                <a:latin typeface="Calibri"/>
              </a:rPr>
              <a:t>Reading the learning curves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5294376"/>
            <a:ext cx="10874959" cy="9525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" y="5422392"/>
            <a:ext cx="10874959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1">
                <a:solidFill>
                  <a:srgbClr val="5A6375"/>
                </a:solidFill>
                <a:latin typeface="Calibri"/>
              </a:rPr>
              <a:t>Then: hands-on lab  →  shapes_32.npz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6382512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A6375"/>
                </a:solidFill>
                <a:latin typeface="Calibri"/>
              </a:rPr>
              <a:t>DL-601  |  Lecture 04  |  Part I - Foundations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80160" y="2606040"/>
            <a:ext cx="963137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SECTION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3017520"/>
            <a:ext cx="9631375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600" b="1" i="0">
                <a:solidFill>
                  <a:srgbClr val="FFFFFF"/>
                </a:solidFill>
                <a:latin typeface="Calibri"/>
              </a:rPr>
              <a:t>From gradient descent to Adam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0292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1F6FB2"/>
                </a:solidFill>
                <a:latin typeface="Calibri"/>
              </a:rPr>
              <a:t>LECTURE 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13816"/>
            <a:ext cx="10874959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A1F2B"/>
                </a:solidFill>
                <a:latin typeface="Calibri"/>
              </a:rPr>
              <a:t>From gradient descent to Adam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80744"/>
            <a:ext cx="1371600" cy="4445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58368" y="1655064"/>
            <a:ext cx="10874959" cy="753465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655064"/>
            <a:ext cx="44450" cy="753465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46504"/>
            <a:ext cx="10417759" cy="6071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1A1F2B"/>
                </a:solidFill>
                <a:latin typeface="Calibri"/>
              </a:rPr>
              <a:t>SGD: cheap, noisy, and the noise itself is a useful regulariser.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2573121"/>
            <a:ext cx="10874959" cy="753465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2573121"/>
            <a:ext cx="44450" cy="753465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664561"/>
            <a:ext cx="10417759" cy="6071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1A1F2B"/>
                </a:solidFill>
                <a:latin typeface="Calibri"/>
              </a:rPr>
              <a:t>Momentum accumulates a velocity vector and damps oscillation across ravines.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3491179"/>
            <a:ext cx="10874959" cy="753465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3491179"/>
            <a:ext cx="44450" cy="753465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582619"/>
            <a:ext cx="10417759" cy="6071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1A1F2B"/>
                </a:solidFill>
                <a:latin typeface="Calibri"/>
              </a:rPr>
              <a:t>RMSProp scales each coordinate by a running estimate of its gradient magnitude.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4409236"/>
            <a:ext cx="10874959" cy="753465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8368" y="4409236"/>
            <a:ext cx="44450" cy="753465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500676"/>
            <a:ext cx="10417759" cy="6071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1A1F2B"/>
                </a:solidFill>
                <a:latin typeface="Calibri"/>
              </a:rPr>
              <a:t>Adam = momentum + RMSProp + bias correction. Defaults: lr 1e-3, betas (0.9, 0.999).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" y="5327294"/>
            <a:ext cx="10874959" cy="753465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8368" y="5327294"/>
            <a:ext cx="44450" cy="753465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5418734"/>
            <a:ext cx="10417759" cy="6071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1A1F2B"/>
                </a:solidFill>
                <a:latin typeface="Calibri"/>
              </a:rPr>
              <a:t>AdamW decouples weight decay from the gradient update and is the correct choice for Transformers.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382512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A6375"/>
                </a:solidFill>
                <a:latin typeface="Calibri"/>
              </a:rPr>
              <a:t>DL-601  |  Lecture 04  |  Part I - Foundations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80160" y="2606040"/>
            <a:ext cx="963137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SECTION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3017520"/>
            <a:ext cx="9631375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600" b="1" i="0">
                <a:solidFill>
                  <a:srgbClr val="FFFFFF"/>
                </a:solidFill>
                <a:latin typeface="Calibri"/>
              </a:rPr>
              <a:t>Learning rate: the hyper-parameter that matters most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0292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1F6FB2"/>
                </a:solidFill>
                <a:latin typeface="Calibri"/>
              </a:rPr>
              <a:t>LECTURE 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13816"/>
            <a:ext cx="10874959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A1F2B"/>
                </a:solidFill>
                <a:latin typeface="Calibri"/>
              </a:rPr>
              <a:t>Learning rate: the hyper-parameter that matters most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80744"/>
            <a:ext cx="1371600" cy="4445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58368" y="1655064"/>
            <a:ext cx="10874959" cy="9829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655064"/>
            <a:ext cx="44450" cy="98298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46504"/>
            <a:ext cx="10417759" cy="8366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1A1F2B"/>
                </a:solidFill>
                <a:latin typeface="Calibri"/>
              </a:rPr>
              <a:t>Too high diverges; too low crawls or stalls in a bad region.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2802636"/>
            <a:ext cx="10874959" cy="9829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2802636"/>
            <a:ext cx="44450" cy="98298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894076"/>
            <a:ext cx="10417759" cy="8366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1A1F2B"/>
                </a:solidFill>
                <a:latin typeface="Calibri"/>
              </a:rPr>
              <a:t>LR range test: sweep the rate exponentially for one epoch and plot loss against rate.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3950208"/>
            <a:ext cx="10874959" cy="9829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3950208"/>
            <a:ext cx="44450" cy="98298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041648"/>
            <a:ext cx="10417759" cy="8366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1A1F2B"/>
                </a:solidFill>
                <a:latin typeface="Calibri"/>
              </a:rPr>
              <a:t>Schedules: step, cosine annealing, and linear warmup for large batches or Transformers.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5097780"/>
            <a:ext cx="10874959" cy="9829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8368" y="5097780"/>
            <a:ext cx="44450" cy="98298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5189220"/>
            <a:ext cx="10417759" cy="8366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1A1F2B"/>
                </a:solidFill>
                <a:latin typeface="Calibri"/>
              </a:rPr>
              <a:t>Warmup exists because early Adam updates are badly scaled before the variance estimates settle.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6382512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A6375"/>
                </a:solidFill>
                <a:latin typeface="Calibri"/>
              </a:rPr>
              <a:t>DL-601  |  Lecture 04  |  Part I - Foundations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80160" y="2606040"/>
            <a:ext cx="963137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SECTION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3017520"/>
            <a:ext cx="9631375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600" b="1" i="0">
                <a:solidFill>
                  <a:srgbClr val="FFFFFF"/>
                </a:solidFill>
                <a:latin typeface="Calibri"/>
              </a:rPr>
              <a:t>Initialisation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0292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1F6FB2"/>
                </a:solidFill>
                <a:latin typeface="Calibri"/>
              </a:rPr>
              <a:t>LECTURE 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13816"/>
            <a:ext cx="10874959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A1F2B"/>
                </a:solidFill>
                <a:latin typeface="Calibri"/>
              </a:rPr>
              <a:t>Initialisation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80744"/>
            <a:ext cx="1371600" cy="4445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58368" y="1655064"/>
            <a:ext cx="10874959" cy="9829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655064"/>
            <a:ext cx="44450" cy="98298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46504"/>
            <a:ext cx="10417759" cy="8366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1A1F2B"/>
                </a:solidFill>
                <a:latin typeface="Calibri"/>
              </a:rPr>
              <a:t>All zeros breaks symmetry permanently - every unit computes the same thing forever.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2802636"/>
            <a:ext cx="10874959" cy="9829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2802636"/>
            <a:ext cx="44450" cy="98298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894076"/>
            <a:ext cx="10417759" cy="8366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1A1F2B"/>
                </a:solidFill>
                <a:latin typeface="Calibri"/>
              </a:rPr>
              <a:t>Xavier/Glorot: variance 1/fan_in, derived for tanh.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3950208"/>
            <a:ext cx="10874959" cy="9829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3950208"/>
            <a:ext cx="44450" cy="98298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041648"/>
            <a:ext cx="10417759" cy="8366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1A1F2B"/>
                </a:solidFill>
                <a:latin typeface="Calibri"/>
              </a:rPr>
              <a:t>He/Kaiming: variance 2/fan_in, corrects for ReLU zeroing half the activations. Use this with ReLU.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5097780"/>
            <a:ext cx="10874959" cy="9829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8368" y="5097780"/>
            <a:ext cx="44450" cy="98298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5189220"/>
            <a:ext cx="10417759" cy="8366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1A1F2B"/>
                </a:solidFill>
                <a:latin typeface="Calibri"/>
              </a:rPr>
              <a:t>Bad initialisation looks exactly like a bad learning rate. Check it first.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6382512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A6375"/>
                </a:solidFill>
                <a:latin typeface="Calibri"/>
              </a:rPr>
              <a:t>DL-601  |  Lecture 04  |  Part I - Foundations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80160" y="2606040"/>
            <a:ext cx="963137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SECTION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3017520"/>
            <a:ext cx="9631375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600" b="1" i="0">
                <a:solidFill>
                  <a:srgbClr val="FFFFFF"/>
                </a:solidFill>
                <a:latin typeface="Calibri"/>
              </a:rPr>
              <a:t>Normalisation layers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0292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1F6FB2"/>
                </a:solidFill>
                <a:latin typeface="Calibri"/>
              </a:rPr>
              <a:t>LECTURE 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13816"/>
            <a:ext cx="10874959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A1F2B"/>
                </a:solidFill>
                <a:latin typeface="Calibri"/>
              </a:rPr>
              <a:t>Normalisation layers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80744"/>
            <a:ext cx="1371600" cy="4445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58368" y="1655064"/>
            <a:ext cx="10874959" cy="9829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655064"/>
            <a:ext cx="44450" cy="98298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46504"/>
            <a:ext cx="10417759" cy="8366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1A1F2B"/>
                </a:solidFill>
                <a:latin typeface="Calibri"/>
              </a:rPr>
              <a:t>BatchNorm standardises each channel over the batch, then applies a learned scale and shift.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2802636"/>
            <a:ext cx="10874959" cy="9829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2802636"/>
            <a:ext cx="44450" cy="98298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894076"/>
            <a:ext cx="10417759" cy="8366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1A1F2B"/>
                </a:solidFill>
                <a:latin typeface="Calibri"/>
              </a:rPr>
              <a:t>It permits higher learning rates and reduces sensitivity to initialisation.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3950208"/>
            <a:ext cx="10874959" cy="9829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3950208"/>
            <a:ext cx="44450" cy="98298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041648"/>
            <a:ext cx="10417759" cy="8366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1A1F2B"/>
                </a:solidFill>
                <a:latin typeface="Calibri"/>
              </a:rPr>
              <a:t>Train and eval behave differently - forgetting model.eval() is a classic production bug.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5097780"/>
            <a:ext cx="10874959" cy="9829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8368" y="5097780"/>
            <a:ext cx="44450" cy="98298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5189220"/>
            <a:ext cx="10417759" cy="8366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1A1F2B"/>
                </a:solidFill>
                <a:latin typeface="Calibri"/>
              </a:rPr>
              <a:t>LayerNorm normalises over features per sample, is batch-size independent, and is standard in Transformers.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6382512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A6375"/>
                </a:solidFill>
                <a:latin typeface="Calibri"/>
              </a:rPr>
              <a:t>DL-601  |  Lecture 04  |  Part I - Foundations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80160" y="2606040"/>
            <a:ext cx="963137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SECTION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3017520"/>
            <a:ext cx="9631375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600" b="1" i="0">
                <a:solidFill>
                  <a:srgbClr val="FFFFFF"/>
                </a:solidFill>
                <a:latin typeface="Calibri"/>
              </a:rPr>
              <a:t>Regularisation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0292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1F6FB2"/>
                </a:solidFill>
                <a:latin typeface="Calibri"/>
              </a:rPr>
              <a:t>LECTURE 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13816"/>
            <a:ext cx="10874959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A1F2B"/>
                </a:solidFill>
                <a:latin typeface="Calibri"/>
              </a:rPr>
              <a:t>Regularisation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80744"/>
            <a:ext cx="1371600" cy="4445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58368" y="1655064"/>
            <a:ext cx="10874959" cy="9829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655064"/>
            <a:ext cx="44450" cy="98298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46504"/>
            <a:ext cx="10417759" cy="8366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1A1F2B"/>
                </a:solidFill>
                <a:latin typeface="Calibri"/>
              </a:rPr>
              <a:t>L2 / weight decay pulls weights toward zero and prefers smoother functions.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2802636"/>
            <a:ext cx="10874959" cy="9829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2802636"/>
            <a:ext cx="44450" cy="98298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894076"/>
            <a:ext cx="10417759" cy="8366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1A1F2B"/>
                </a:solidFill>
                <a:latin typeface="Calibri"/>
              </a:rPr>
              <a:t>Dropout randomly zeroes units during training, approximating an ensemble of subnetworks.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3950208"/>
            <a:ext cx="10874959" cy="9829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3950208"/>
            <a:ext cx="44450" cy="98298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041648"/>
            <a:ext cx="10417759" cy="8366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1A1F2B"/>
                </a:solidFill>
                <a:latin typeface="Calibri"/>
              </a:rPr>
              <a:t>Early stopping on validation loss is the cheapest regulariser available.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5097780"/>
            <a:ext cx="10874959" cy="9829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8368" y="5097780"/>
            <a:ext cx="44450" cy="98298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5189220"/>
            <a:ext cx="10417759" cy="8366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1A1F2B"/>
                </a:solidFill>
                <a:latin typeface="Calibri"/>
              </a:rPr>
              <a:t>Data augmentation is usually worth more than any explicit penalty - see Lecture 7.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6382512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A6375"/>
                </a:solidFill>
                <a:latin typeface="Calibri"/>
              </a:rPr>
              <a:t>DL-601  |  Lecture 04  |  Part I - Foundations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80160" y="2606040"/>
            <a:ext cx="963137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SECTION 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3017520"/>
            <a:ext cx="9631375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600" b="1" i="0">
                <a:solidFill>
                  <a:srgbClr val="FFFFFF"/>
                </a:solidFill>
                <a:latin typeface="Calibri"/>
              </a:rPr>
              <a:t>Reading the learning curves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0292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1F6FB2"/>
                </a:solidFill>
                <a:latin typeface="Calibri"/>
              </a:rPr>
              <a:t>LECTURE 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13816"/>
            <a:ext cx="10874959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A1F2B"/>
                </a:solidFill>
                <a:latin typeface="Calibri"/>
              </a:rPr>
              <a:t>Reading the learning curves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80744"/>
            <a:ext cx="1371600" cy="4445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58368" y="1655064"/>
            <a:ext cx="10874959" cy="9829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655064"/>
            <a:ext cx="44450" cy="98298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46504"/>
            <a:ext cx="10417759" cy="8366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1A1F2B"/>
                </a:solidFill>
                <a:latin typeface="Calibri"/>
              </a:rPr>
              <a:t>High train loss and high val loss: underfitting - more capacity, longer training, higher LR.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2802636"/>
            <a:ext cx="10874959" cy="9829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2802636"/>
            <a:ext cx="44450" cy="98298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894076"/>
            <a:ext cx="10417759" cy="8366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1A1F2B"/>
                </a:solidFill>
                <a:latin typeface="Calibri"/>
              </a:rPr>
              <a:t>Low train loss and high val loss: overfitting - more data, augmentation, regularisation.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3950208"/>
            <a:ext cx="10874959" cy="9829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3950208"/>
            <a:ext cx="44450" cy="98298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041648"/>
            <a:ext cx="10417759" cy="8366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1A1F2B"/>
                </a:solidFill>
                <a:latin typeface="Calibri"/>
              </a:rPr>
              <a:t>Val loss rising while val accuracy holds: the model is growing over-confident. Check calibration.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5097780"/>
            <a:ext cx="10874959" cy="9829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8368" y="5097780"/>
            <a:ext cx="44450" cy="98298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5189220"/>
            <a:ext cx="10417759" cy="8366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1A1F2B"/>
                </a:solidFill>
                <a:latin typeface="Calibri"/>
              </a:rPr>
              <a:t>Erratic loss: learning rate too high, or a batch size of one on BatchNorm.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6382512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A6375"/>
                </a:solidFill>
                <a:latin typeface="Calibri"/>
              </a:rPr>
              <a:t>DL-601  |  Lecture 04  |  Part I - Foundations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0292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1F6FB2"/>
                </a:solidFill>
                <a:latin typeface="Calibri"/>
              </a:rPr>
              <a:t>NOTEBOOK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13816"/>
            <a:ext cx="10874959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A1F2B"/>
                </a:solidFill>
                <a:latin typeface="Calibri"/>
              </a:rPr>
              <a:t>Hands-on lab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80744"/>
            <a:ext cx="1371600" cy="4445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58368" y="1655064"/>
            <a:ext cx="10874959" cy="173736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655064"/>
            <a:ext cx="50800" cy="173736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0976" y="1856232"/>
            <a:ext cx="10289743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1A1F2B"/>
                </a:solidFill>
                <a:latin typeface="Calibri"/>
              </a:rPr>
              <a:t>Run controlled experiments: an optimiser bake-off on identical seeds, a learning-rate range test, an initialisation comparison measured by activation variance per layer, and an ablation of BatchNorm, dropout and weight decay on a deliberately overfitting setup.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3666744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1F6FB2"/>
                </a:solidFill>
                <a:latin typeface="Calibri"/>
              </a:rPr>
              <a:t>Notebook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21408" y="3666744"/>
            <a:ext cx="9411919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1A1F2B"/>
                </a:solidFill>
                <a:latin typeface="Consolas"/>
              </a:rPr>
              <a:t>notebooks/L04_Training_Deep_Networks_Optimisation_and_Regu.ipynb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4142232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1F6FB2"/>
                </a:solidFill>
                <a:latin typeface="Calibri"/>
              </a:rPr>
              <a:t>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21408" y="4142232"/>
            <a:ext cx="9411919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1A1F2B"/>
                </a:solidFill>
                <a:latin typeface="Consolas"/>
              </a:rPr>
              <a:t>shapes_32.npz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461772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1F6FB2"/>
                </a:solidFill>
                <a:latin typeface="Calibri"/>
              </a:rPr>
              <a:t>Helpers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21408" y="4617720"/>
            <a:ext cx="9411919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1A1F2B"/>
                </a:solidFill>
                <a:latin typeface="Consolas"/>
              </a:rPr>
              <a:t>from dlcourse import load_shapes, train, evaluate, show_grid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6382512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A6375"/>
                </a:solidFill>
                <a:latin typeface="Calibri"/>
              </a:rPr>
              <a:t>DL-601  |  Lecture 04  |  Part I - Foundations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0292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1F6FB2"/>
                </a:solidFill>
                <a:latin typeface="Calibri"/>
              </a:rPr>
              <a:t>DUE BEFORE THE NEXT LECTURE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13816"/>
            <a:ext cx="10874959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A1F2B"/>
                </a:solidFill>
                <a:latin typeface="Calibri"/>
              </a:rPr>
              <a:t>Your tasks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80744"/>
            <a:ext cx="1371600" cy="4445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655064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1F6FB2"/>
                </a:solidFill>
                <a:latin typeface="Calibri"/>
              </a:rPr>
              <a:t>CORE — all 5 required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039112"/>
            <a:ext cx="54864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1A1F2B"/>
                </a:solidFill>
                <a:latin typeface="Calibri"/>
              </a:rPr>
              <a:t>1.  Optimiser bake-off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450592"/>
            <a:ext cx="54864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1A1F2B"/>
                </a:solidFill>
                <a:latin typeface="Calibri"/>
              </a:rPr>
              <a:t>2.  Learning-rate range test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862072"/>
            <a:ext cx="54864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1A1F2B"/>
                </a:solidFill>
                <a:latin typeface="Calibri"/>
              </a:rPr>
              <a:t>3.  Initialisation and activation variance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3273552"/>
            <a:ext cx="54864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1A1F2B"/>
                </a:solidFill>
                <a:latin typeface="Calibri"/>
              </a:rPr>
              <a:t>4.  Regularisation ablation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3685032"/>
            <a:ext cx="54864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1A1F2B"/>
                </a:solidFill>
                <a:latin typeface="Calibri"/>
              </a:rPr>
              <a:t>5.  BatchNorm in train versus eval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01968" y="1655064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5A6375"/>
                </a:solidFill>
                <a:latin typeface="Calibri"/>
              </a:rPr>
              <a:t>STRETCH — 2 optional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01968" y="2039112"/>
            <a:ext cx="493776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5A6375"/>
                </a:solidFill>
                <a:latin typeface="Calibri"/>
              </a:rPr>
              <a:t>1.  Cosine schedule with warmup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01968" y="2450592"/>
            <a:ext cx="493776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5A6375"/>
                </a:solidFill>
                <a:latin typeface="Calibri"/>
              </a:rPr>
              <a:t>2.  Batch size and generalisation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5897880"/>
            <a:ext cx="10874959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1">
                <a:solidFill>
                  <a:srgbClr val="5A6375"/>
                </a:solidFill>
                <a:latin typeface="Calibri"/>
              </a:rPr>
              <a:t>Full instructions: tasks/Lecture_04_Tasks.md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6382512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A6375"/>
                </a:solidFill>
                <a:latin typeface="Calibri"/>
              </a:rPr>
              <a:t>DL-601  |  Lecture 04  |  Part I - Foundations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0292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1F6FB2"/>
                </a:solidFill>
                <a:latin typeface="Calibri"/>
              </a:rPr>
              <a:t>GO DEEPER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13816"/>
            <a:ext cx="10874959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A1F2B"/>
                </a:solidFill>
                <a:latin typeface="Calibri"/>
              </a:rPr>
              <a:t>Reading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80744"/>
            <a:ext cx="1371600" cy="4445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764792"/>
            <a:ext cx="3657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1F6FB2"/>
                </a:solidFill>
                <a:latin typeface="Calibri"/>
              </a:rPr>
              <a:t>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" y="1764792"/>
            <a:ext cx="10463479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1F2B"/>
                </a:solidFill>
                <a:latin typeface="Calibri"/>
              </a:rPr>
              <a:t>Kingma &amp; Ba (2015), Adam: A Method for Stochastic Optimization.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33172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1F6FB2"/>
                </a:solidFill>
                <a:latin typeface="Calibri"/>
              </a:rPr>
              <a:t>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" y="2331720"/>
            <a:ext cx="10463479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1F2B"/>
                </a:solidFill>
                <a:latin typeface="Calibri"/>
              </a:rPr>
              <a:t>He et al. (2015), Delving Deep into Rectifiers (He initialisation).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898648"/>
            <a:ext cx="3657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1F6FB2"/>
                </a:solidFill>
                <a:latin typeface="Calibri"/>
              </a:rPr>
              <a:t>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2898648"/>
            <a:ext cx="10463479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1F2B"/>
                </a:solidFill>
                <a:latin typeface="Calibri"/>
              </a:rPr>
              <a:t>Ioffe &amp; Szegedy (2015), Batch Normalization.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3465576"/>
            <a:ext cx="3657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1F6FB2"/>
                </a:solidFill>
                <a:latin typeface="Calibri"/>
              </a:rPr>
              <a:t>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9848" y="3465576"/>
            <a:ext cx="10463479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1F2B"/>
                </a:solidFill>
                <a:latin typeface="Calibri"/>
              </a:rPr>
              <a:t>Loshchilov &amp; Hutter (2019), Decoupled Weight Decay Regularization (AdamW).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382512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A6375"/>
                </a:solidFill>
                <a:latin typeface="Calibri"/>
              </a:rPr>
              <a:t>DL-601  |  Lecture 04  |  Part I - Foundations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50292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1F6FB2"/>
                </a:solidFill>
                <a:latin typeface="Calibri"/>
              </a:rPr>
              <a:t>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13816"/>
            <a:ext cx="10874959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A1F2B"/>
                </a:solidFill>
                <a:latin typeface="Calibri"/>
              </a:rPr>
              <a:t>What to take away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80744"/>
            <a:ext cx="1371600" cy="4445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837944"/>
            <a:ext cx="128016" cy="128016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1691640"/>
            <a:ext cx="10509199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1F2B"/>
                </a:solidFill>
                <a:latin typeface="Calibri"/>
              </a:rPr>
              <a:t>SGD: cheap, noisy, and the noise itself is a useful regulariser.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2514600"/>
            <a:ext cx="128016" cy="128016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8" y="2368296"/>
            <a:ext cx="10509199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1F2B"/>
                </a:solidFill>
                <a:latin typeface="Calibri"/>
              </a:rPr>
              <a:t>Too high diverges; too low crawls or stalls in a bad region.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3191256"/>
            <a:ext cx="128016" cy="128016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4128" y="3044952"/>
            <a:ext cx="10509199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1F2B"/>
                </a:solidFill>
                <a:latin typeface="Calibri"/>
              </a:rPr>
              <a:t>All zeros breaks symmetry permanently - every unit computes the same thing forever.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3867912"/>
            <a:ext cx="128016" cy="128016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24128" y="3721608"/>
            <a:ext cx="10509199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1F2B"/>
                </a:solidFill>
                <a:latin typeface="Calibri"/>
              </a:rPr>
              <a:t>BatchNorm standardises each channel over the batch, then applies a learned scale and shift.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4544568"/>
            <a:ext cx="128016" cy="128016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4128" y="4398264"/>
            <a:ext cx="10509199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1F2B"/>
                </a:solidFill>
                <a:latin typeface="Calibri"/>
              </a:rPr>
              <a:t>L2 / weight decay pulls weights toward zero and prefers smoother functions.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5221224"/>
            <a:ext cx="128016" cy="128016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24128" y="5074920"/>
            <a:ext cx="10509199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1F2B"/>
                </a:solidFill>
                <a:latin typeface="Calibri"/>
              </a:rPr>
              <a:t>High train loss and high val loss: underfitting - more capacity, longer training, higher LR.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5852160"/>
            <a:ext cx="10874959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1F6FB2"/>
                </a:solidFill>
                <a:latin typeface="Calibri"/>
              </a:rPr>
              <a:t>Next — Lecture 05: Convolutional Neural Networks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6382512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A6375"/>
                </a:solidFill>
                <a:latin typeface="Calibri"/>
              </a:rPr>
              <a:t>DL-601  |  Lecture 04  |  Part I - Foundations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