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716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F6FB2"/>
                </a:solidFill>
                <a:latin typeface="Calibri"/>
              </a:rPr>
              <a:t>DL-601  ·  Part I -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5A6375"/>
                </a:solidFill>
                <a:latin typeface="Calibri"/>
              </a:rPr>
              <a:t>Lecture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981425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1A1F2B"/>
                </a:solidFill>
                <a:latin typeface="Calibri"/>
              </a:rPr>
              <a:t>Training Deep Networks: Optimisation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06908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5A6375"/>
                </a:solidFill>
                <a:latin typeface="Calibri"/>
              </a:rPr>
              <a:t>Everything between 'it runs' and 'it works'.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4846320"/>
            <a:ext cx="18288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5212080"/>
            <a:ext cx="100885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375"/>
                </a:solidFill>
                <a:latin typeface="Calibri"/>
              </a:rPr>
              <a:t>Deep Learning — Foundations, Computer Vision and Production Systems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A6375"/>
                </a:solidFill>
                <a:latin typeface="Calibri"/>
              </a:rPr>
              <a:t>Senior AI Engineer, Course Instructor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BY THE END OF THIS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783080"/>
            <a:ext cx="384048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8288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746504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Compare SGD, momentum, RMSProp and Adam, and state when each is the right default.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15768"/>
            <a:ext cx="384048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761488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679192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Choose an initialisation scheme that keeps activation variance stable with depth.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648456"/>
            <a:ext cx="384048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694176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611880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Apply batch normalisation, dropout and weight decay, and explain what each actually does.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81144"/>
            <a:ext cx="384048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626864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544568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Diagnose underfitting and overfitting from learning curves and respond correctly.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04  |  Part I - Foundations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WHERE WE ARE GOING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F6FB2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4168" y="1783080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From gradient descent to Adam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267712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68296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F6FB2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386584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Learning rate: the hyper-parameter that matters most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871216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9718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F6FB2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2990088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Initialisation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474720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57530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F6FB2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593592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Normalisation layers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78224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178808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F6FB2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4168" y="4197096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Regularisation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681728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78231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F6FB2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4800600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Reading the learning curves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285232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5495544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A6375"/>
                </a:solidFill>
                <a:latin typeface="Calibri"/>
              </a:rPr>
              <a:t>Then: hands-on lab  →  shapes_32.npz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04  |  Part I - Foundations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From gradient descent to Adam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LECTURE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From gradient descent to Adam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753465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SGD: cheap, noisy, and the noise itself is a useful regulariser.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73121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573121"/>
            <a:ext cx="44450" cy="753465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64561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Momentum accumulates a velocity vector and damps oscillation across ravines.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491179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491179"/>
            <a:ext cx="44450" cy="753465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82619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RMSProp scales each coordinate by a running estimate of its gradient magnitude.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409236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409236"/>
            <a:ext cx="44450" cy="753465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00676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Adam = momentum + RMSProp + bias correction. Defaults: lr 1e-3, betas (0.9, 0.999).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327294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5327294"/>
            <a:ext cx="44450" cy="753465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418734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AdamW decouples weight decay from the gradient update and is the correct choice for Transformers.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04  |  Part I - Foundations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Learning rate: the hyper-parameter that matters most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LECTURE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Learning rate: the hyper-parameter that matters most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Too high diverges; too low crawls or stalls in a bad region.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LR range test: sweep the rate exponentially for one epoch and plot loss against rate.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Schedules: step, cosine annealing, and linear warmup for large batches or Transformers.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Warmup exists because early Adam updates are badly scaled before the variance estimates settle.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04  |  Part I - Foundations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Initialisation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LECTURE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Initialisation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All zeros breaks symmetry permanently - every unit computes the same thing forever.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Xavier/Glorot: variance 1/fan_in, derived for tanh.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He/Kaiming: variance 2/fan_in, corrects for ReLU zeroing half the activations. Use this with ReLU.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Bad initialisation looks exactly like a bad learning rate. Check it first.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04  |  Part I - Foundations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Normalisation layers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LECTURE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Normalisation 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BatchNorm standardises each channel over the batch, then applies a learned scale and shift.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It permits higher learning rates and reduces sensitivity to initialisation.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Train and eval behave differently - forgetting model.eval() is a classic production bug.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LayerNorm normalises over features per sample, is batch-size independent, and is standard in Transformers.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04  |  Part I - Foundations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Regularisation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LECTURE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Regularisation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L2 / weight decay pulls weights toward zero and prefers smoother functions.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Dropout randomly zeroes units during training, approximating an ensemble of subnetworks.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Early stopping on validation loss is the cheapest regulariser available.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Data augmentation is usually worth more than any explicit penalty - see Lecture 7.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04  |  Part I - Foundations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Reading the learning curves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LECTURE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Reading the learning curves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High train loss and high val loss: underfitting - more capacity, longer training, higher LR.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Low train loss and high val loss: overfitting - more data, augmentation, regularisation.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Val loss rising while val accuracy holds: the model is growing over-confident. Check calibration.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Erratic loss: learning rate too high, or a batch size of one on BatchNorm.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04  |  Part I - Foundations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Hands-on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7373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50800" cy="17373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856232"/>
            <a:ext cx="10289743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Run controlled experiments: an optimiser bake-off on identical seeds, a learning-rate range test, an initialisation comparison measured by activation variance per layer, and an ablation of BatchNorm, dropout and weight decay on a deliberately overfitting setup.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66674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6FB2"/>
                </a:solidFill>
                <a:latin typeface="Calibri"/>
              </a:rPr>
              <a:t>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3666744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notebooks/L04_Training_Deep_Networks_Optimisation_and_Regu.ipynb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4223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6FB2"/>
                </a:solidFill>
                <a:latin typeface="Calibri"/>
              </a:rPr>
              <a:t>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4142232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shapes_32.npz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6177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6FB2"/>
                </a:solidFill>
                <a:latin typeface="Calibri"/>
              </a:rPr>
              <a:t>Helpers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21408" y="4617720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from dlcourse import load_shapes, train, evaluate, show_grid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04  |  Part I - Foundations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DUE BEFORE THE NEXT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Your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5506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F6FB2"/>
                </a:solidFill>
                <a:latin typeface="Calibri"/>
              </a:rPr>
              <a:t>CORE — all 5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1.  Optimiser bake-off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505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2.  Learning-rate range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6207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3.  Initialisation and activation variance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7355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4.  Regularisation ablation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8503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5.  BatchNorm in train versus eval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1968" y="165506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5A6375"/>
                </a:solidFill>
                <a:latin typeface="Calibri"/>
              </a:rPr>
              <a:t>STRETCH — 2 optional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203911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1.  Cosine schedule with warmup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245059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2.  Batch size and generalisation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89788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A6375"/>
                </a:solidFill>
                <a:latin typeface="Calibri"/>
              </a:rPr>
              <a:t>Full instructions: tasks/Lecture_04_Tasks.md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04  |  Part I - Foundations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6FB2"/>
                </a:solidFill>
                <a:latin typeface="Calibri"/>
              </a:rPr>
              <a:t>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1764792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Kingma &amp; Ba (2015), Adam: A Method for Stochastic Optimization.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317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6FB2"/>
                </a:solidFill>
                <a:latin typeface="Calibri"/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331720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He et al. (2015), Delving Deep into Rectifiers (He initialisation).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9864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6FB2"/>
                </a:solidFill>
                <a:latin typeface="Calibri"/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898648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Ioffe &amp; Szegedy (2015), Batch Normalization.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465576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6FB2"/>
                </a:solidFill>
                <a:latin typeface="Calibri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465576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Loshchilov &amp; Hutter (2019), Decoupled Weight Decay Regularization (AdamW).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04  |  Part I - Foundations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What to take away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83664"/>
            <a:ext cx="146304" cy="1463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1700784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SGD: cheap, noisy, and the noise itself is a useful regulariser.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96896"/>
            <a:ext cx="146304" cy="1463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414016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Too high diverges; too low crawls or stalls in a bad region.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310128"/>
            <a:ext cx="146304" cy="1463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3127248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All zeros breaks symmetry permanently - every unit computes the same thing forever.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023360"/>
            <a:ext cx="146304" cy="1463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840480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BatchNorm standardises each channel over the batch, then applies a learned scale and shift.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36592"/>
            <a:ext cx="146304" cy="1463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553712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L2 / weight decay pulls weights toward zero and prefers smoother functions.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449824"/>
            <a:ext cx="146304" cy="1463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5266944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High train loss and high val loss: underfitting - more capacity, longer training, higher LR.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85216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6FB2"/>
                </a:solidFill>
                <a:latin typeface="Calibri"/>
              </a:rPr>
              <a:t>Next — Lecture 05: Convolutional Neural Networks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04  |  Part I - Foundations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