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866B"/>
                </a:solidFill>
                <a:latin typeface="Calibri"/>
              </a:rPr>
              <a:t>DL-601  ·  Part II - Convolutional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5A6375"/>
                </a:solidFill>
                <a:latin typeface="Calibri"/>
              </a:rPr>
              <a:t>Lecture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981425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1A1F2B"/>
                </a:solidFill>
                <a:latin typeface="Calibri"/>
              </a:rPr>
              <a:t>Data Augmentation, Training Recipes and Experiment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069080"/>
            <a:ext cx="98142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5A6375"/>
                </a:solidFill>
                <a:latin typeface="Calibri"/>
              </a:rPr>
              <a:t>The unglamorous work that produces most of the accuracy.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846320"/>
            <a:ext cx="18288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212080"/>
            <a:ext cx="100885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375"/>
                </a:solidFill>
                <a:latin typeface="Calibri"/>
              </a:rPr>
              <a:t>Deep Learning — Foundations, Computer Vision and Production Systems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375"/>
                </a:solidFill>
                <a:latin typeface="Calibri"/>
              </a:rPr>
              <a:t>Senior AI Engineer, Course Instructor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BY THE END OF THIS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83080"/>
            <a:ext cx="384048" cy="384048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746504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Design an augmentation policy whose transformations preserve the label.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15768"/>
            <a:ext cx="384048" cy="384048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76148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679192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Implement mixup and cutmix and explain what they regularise.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648456"/>
            <a:ext cx="384048" cy="384048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694176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3611880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Run a reproducible experiment: fixed seeds, logged configuration, recorded artefacts.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581144"/>
            <a:ext cx="384048" cy="384048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62686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4544568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Choose between grid, random and successive-halving hyper-parameter search.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07  |  Part II - Convolutional Vision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WHERE WE ARE 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6479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866B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783080"/>
            <a:ext cx="101891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Augmentation as a prior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267712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368296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866B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386584"/>
            <a:ext cx="101891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The standard geometric and photometric toolkit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871216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97180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866B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990088"/>
            <a:ext cx="101891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Mixup and cutmix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474720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575304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866B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593592"/>
            <a:ext cx="101891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Test-time augmentation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078224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17880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866B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4197096"/>
            <a:ext cx="101891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Reproducibility in practice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681728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78231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866B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4800600"/>
            <a:ext cx="101891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Hyper-parameter search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285232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495544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A6375"/>
                </a:solidFill>
                <a:latin typeface="Calibri"/>
              </a:rPr>
              <a:t>Then: hands-on lab  →  shapes_32.npz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07  |  Part II - Convolutional Vision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Augmentation as a prior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LECTURE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Augmentation as a prior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Augmentation encodes the invariances you know the task has.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It is the cheapest way to buy effective data, and usually outperforms explicit regularisers.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The rule: the transformation must not change the correct label.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 counter-example: vertical flip changes a 6 into a 9. Never flip digits vertically.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07  |  Part II - Convolutional Vision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The standard geometric and photometric toolkit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LECTURE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The standard geometric and photometric toolkit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Random crop with padding, horizontal flip, small rotation, scale and translate.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Colour jitter (brightness, contrast, saturation, hue), grayscale, Gaussian blur.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Random erasing / cutout: occlude a rectangle so the model cannot rely on a single region.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Augment the training set only. Augmenting validation makes your metric meaningless.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07  |  Part II - Convolutional Vision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Mixup and cutmix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LECTURE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Mixup and cutmix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Mixup: x = lam*x_i + (1-lam)*x_j with the labels mixed identically, lam ~ Beta(a, a).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It encourages linear behaviour between examples and improves calibration noticeably.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Cutmix pastes a patch of one image into another, mixing labels by patch area.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Both need soft-label cross-entropy, and both usually want longer training.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07  |  Part II - Convolutional Vision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Test-time augmentation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LECTURE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Test-time augmentation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Average predictions over several augmented copies of the test image.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Reliably worth a point or two of accuracy at a linear cost in inference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State clearly whether a reported number used TTA - otherwise the comparison is dishonest.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07  |  Part II - Convolutional Vision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Reproducibility in practice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LECTURE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Reproducibility in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Seed Python, NumPy and PyTorch; set deterministic algorithms when you need bitwise repeatability.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Log the full configuration, the git commit, the library versions and the hardware.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Save the config next to the checkpoint. A checkpoint without its config is nearly worthless.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GPU non-determinism is real: expect small run-to-run variation even with seeds fixed.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07  |  Part II - Convolutional Vision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Hyper-parameter search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LECTURE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Hyper-parameter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Grid search wastes evaluations on parameters that do not matter.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Random search covers important dimensions far better at the same budget (Bergstra &amp; Bengio).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Successive halving / Hyperband: start many runs, kill the weak ones early.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Search on validation. Report on test, once.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07  |  Part II - Convolutional Vision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Hands-on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737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50800" cy="173736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56232"/>
            <a:ext cx="1028974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Build an augmentation pipeline from tensor operations, measure each transformation's effect in a controlled ablation, implement mixup and cutmix with soft-label loss, then build a small experiment tracker (JSON log + results table) and run a random search over the training recipe.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6674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866B"/>
                </a:solidFill>
                <a:latin typeface="Calibri"/>
              </a:rPr>
              <a:t>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3666744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notebooks/L07_Data_Augmentation_Training_Recipes_and_Exper.ipynb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1422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866B"/>
                </a:solidFill>
                <a:latin typeface="Calibri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4142232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shapes_32.npz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17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866B"/>
                </a:solidFill>
                <a:latin typeface="Calibri"/>
              </a:rPr>
              <a:t>Helpers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4617720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from dlcourse import load_shapes, train, evaluate, show_grid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07  |  Part II - Convolutional Vision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DUE BEFORE THE NEXT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Your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5506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866B"/>
                </a:solidFill>
                <a:latin typeface="Calibri"/>
              </a:rPr>
              <a:t>CORE — all 6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391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1.  Augmentation from scratch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505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2.  Label-preserving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6207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3.  Ablation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735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4.  Mixup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8503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5.  Experiment tracker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0965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6.  Random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65506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A6375"/>
                </a:solidFill>
                <a:latin typeface="Calibri"/>
              </a:rPr>
              <a:t>STRETCH — 2 optional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03911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1.  Cutmix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45059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2.  Test-time augmentation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897880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Full instructions: tasks/Lecture_07_Tasks.md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07  |  Part II - Convolutional Vision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GO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6479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B866B"/>
                </a:solidFill>
                <a:latin typeface="Calibri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1764792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Zhang et al. (2018), mixup: Beyond Empirical Risk Minimization.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B866B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331720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Yun et al. (2019), CutMix.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9864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B866B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98648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Bergstra &amp; Bengio (2012), Random Search for Hyper-Parameter Optimization.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465576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B866B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465576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Shorten &amp; Khoshgoftaar (2019), A Survey on Image Data Augmentation.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07  |  Part II - Convolutional Vision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What to take 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83664"/>
            <a:ext cx="146304" cy="1463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700784"/>
            <a:ext cx="104909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Augmentation encodes the invariances you know the task has.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96896"/>
            <a:ext cx="146304" cy="1463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414016"/>
            <a:ext cx="104909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Random crop with padding, horizontal flip, small rotation, scale and translate.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310128"/>
            <a:ext cx="146304" cy="1463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3127248"/>
            <a:ext cx="104909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Mixup: x = lam*x_i + (1-lam)*x_j with the labels mixed identically, lam ~ Beta(a, a).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023360"/>
            <a:ext cx="146304" cy="1463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3840480"/>
            <a:ext cx="104909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Average predictions over several augmented copies of the test image.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736592"/>
            <a:ext cx="146304" cy="1463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4553712"/>
            <a:ext cx="104909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Seed Python, NumPy and PyTorch; set deterministic algorithms when you need bitwise repeatability.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449824"/>
            <a:ext cx="146304" cy="1463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5266944"/>
            <a:ext cx="104909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Grid search wastes evaluations on parameters that do not matter.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85216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866B"/>
                </a:solidFill>
                <a:latin typeface="Calibri"/>
              </a:rPr>
              <a:t>Next — Lecture 08: Evaluation, Interpretability and Model Debugging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07  |  Part II - Convolutional Vision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