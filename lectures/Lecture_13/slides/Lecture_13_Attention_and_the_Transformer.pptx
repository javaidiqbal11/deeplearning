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6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310896" cy="6858000"/>
          </a:xfrm>
          <a:prstGeom prst="rect">
            <a:avLst/>
          </a:prstGeom>
          <a:solidFill>
            <a:srgbClr val="7A3E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51560" y="1371600"/>
            <a:ext cx="10088575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300" b="1" i="0">
                <a:solidFill>
                  <a:srgbClr val="7A3EA8"/>
                </a:solidFill>
                <a:latin typeface="Calibri"/>
              </a:rPr>
              <a:t>DL-601  ·  Part IV - Attention, Generation and Production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51560" y="1828800"/>
            <a:ext cx="10088575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700" b="0" i="0">
                <a:solidFill>
                  <a:srgbClr val="5A6375"/>
                </a:solidFill>
                <a:latin typeface="Calibri"/>
              </a:rPr>
              <a:t>Lecture 13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51560" y="2286000"/>
            <a:ext cx="9814255" cy="17373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1000"/>
              </a:spcAft>
            </a:pPr>
            <a:r>
              <a:rPr sz="4000" b="1" i="0">
                <a:solidFill>
                  <a:srgbClr val="1A1F2B"/>
                </a:solidFill>
                <a:latin typeface="Calibri"/>
              </a:rPr>
              <a:t>Attention and the Transformer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51560" y="4069080"/>
            <a:ext cx="9814255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900" b="0" i="1">
                <a:solidFill>
                  <a:srgbClr val="5A6375"/>
                </a:solidFill>
                <a:latin typeface="Calibri"/>
              </a:rPr>
              <a:t>Scaled dot-product attention, built from nothing.</a:t>
            </a:r>
          </a:p>
        </p:txBody>
      </p:sp>
      <p:sp>
        <p:nvSpPr>
          <p:cNvPr id="8" name="Rectangle 7"/>
          <p:cNvSpPr/>
          <p:nvPr/>
        </p:nvSpPr>
        <p:spPr>
          <a:xfrm>
            <a:off x="1051560" y="4846320"/>
            <a:ext cx="1828800" cy="44450"/>
          </a:xfrm>
          <a:prstGeom prst="rect">
            <a:avLst/>
          </a:prstGeom>
          <a:solidFill>
            <a:srgbClr val="7A3E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51560" y="5212080"/>
            <a:ext cx="10088575" cy="9144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300" b="0" i="0">
                <a:solidFill>
                  <a:srgbClr val="5A6375"/>
                </a:solidFill>
                <a:latin typeface="Calibri"/>
              </a:rPr>
              <a:t>Deep Learning — Foundations, Computer Vision and Production Systems</a:t>
            </a:r>
          </a:p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200" b="0" i="0">
                <a:solidFill>
                  <a:srgbClr val="5A6375"/>
                </a:solidFill>
                <a:latin typeface="Calibri"/>
              </a:rPr>
              <a:t>Senior AI Engineer, Course Instructor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58368" y="502920"/>
            <a:ext cx="10874959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100" b="1" i="0">
                <a:solidFill>
                  <a:srgbClr val="7A3EA8"/>
                </a:solidFill>
                <a:latin typeface="Calibri"/>
              </a:rPr>
              <a:t>BY THE END OF THIS LECTURE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58368" y="813816"/>
            <a:ext cx="10874959" cy="6858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3000" b="1" i="0">
                <a:solidFill>
                  <a:srgbClr val="1A1F2B"/>
                </a:solidFill>
                <a:latin typeface="Calibri"/>
              </a:rPr>
              <a:t>Learning objectives</a:t>
            </a:r>
          </a:p>
        </p:txBody>
      </p:sp>
      <p:sp>
        <p:nvSpPr>
          <p:cNvPr id="4" name="Rectangle 3"/>
          <p:cNvSpPr/>
          <p:nvPr/>
        </p:nvSpPr>
        <p:spPr>
          <a:xfrm>
            <a:off x="658368" y="1380744"/>
            <a:ext cx="1371600" cy="44450"/>
          </a:xfrm>
          <a:prstGeom prst="rect">
            <a:avLst/>
          </a:prstGeom>
          <a:solidFill>
            <a:srgbClr val="7A3E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658368" y="1783080"/>
            <a:ext cx="384048" cy="384048"/>
          </a:xfrm>
          <a:prstGeom prst="rect">
            <a:avLst/>
          </a:prstGeom>
          <a:solidFill>
            <a:srgbClr val="7A3E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49808" y="1828800"/>
            <a:ext cx="27432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600"/>
              </a:spcAft>
            </a:pPr>
            <a:r>
              <a:rPr sz="1500" b="1" i="0">
                <a:solidFill>
                  <a:srgbClr val="FFFFFF"/>
                </a:solidFill>
                <a:latin typeface="Calibri"/>
              </a:rPr>
              <a:t>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316736" y="1746504"/>
            <a:ext cx="10216591" cy="8229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700" b="0" i="0">
                <a:solidFill>
                  <a:srgbClr val="1A1F2B"/>
                </a:solidFill>
                <a:latin typeface="Calibri"/>
              </a:rPr>
              <a:t>Derive scaled dot-product attention and explain every term, including the square-root scaling.</a:t>
            </a:r>
          </a:p>
        </p:txBody>
      </p:sp>
      <p:sp>
        <p:nvSpPr>
          <p:cNvPr id="8" name="Rectangle 7"/>
          <p:cNvSpPr/>
          <p:nvPr/>
        </p:nvSpPr>
        <p:spPr>
          <a:xfrm>
            <a:off x="658368" y="2715768"/>
            <a:ext cx="384048" cy="384048"/>
          </a:xfrm>
          <a:prstGeom prst="rect">
            <a:avLst/>
          </a:prstGeom>
          <a:solidFill>
            <a:srgbClr val="7A3E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49808" y="2761488"/>
            <a:ext cx="27432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600"/>
              </a:spcAft>
            </a:pPr>
            <a:r>
              <a:rPr sz="1500" b="1" i="0">
                <a:solidFill>
                  <a:srgbClr val="FFFFFF"/>
                </a:solidFill>
                <a:latin typeface="Calibri"/>
              </a:rPr>
              <a:t>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316736" y="2679192"/>
            <a:ext cx="10216591" cy="8229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700" b="0" i="0">
                <a:solidFill>
                  <a:srgbClr val="1A1F2B"/>
                </a:solidFill>
                <a:latin typeface="Calibri"/>
              </a:rPr>
              <a:t>Implement multi-head self-attention, positional encoding and a full encoder block from scratch.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58368" y="3648456"/>
            <a:ext cx="384048" cy="384048"/>
          </a:xfrm>
          <a:prstGeom prst="rect">
            <a:avLst/>
          </a:prstGeom>
          <a:solidFill>
            <a:srgbClr val="7A3E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49808" y="3694176"/>
            <a:ext cx="27432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600"/>
              </a:spcAft>
            </a:pPr>
            <a:r>
              <a:rPr sz="1500" b="1" i="0">
                <a:solidFill>
                  <a:srgbClr val="FFFFFF"/>
                </a:solidFill>
                <a:latin typeface="Calibri"/>
              </a:rPr>
              <a:t>3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316736" y="3611880"/>
            <a:ext cx="10216591" cy="8229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700" b="0" i="0">
                <a:solidFill>
                  <a:srgbClr val="1A1F2B"/>
                </a:solidFill>
                <a:latin typeface="Calibri"/>
              </a:rPr>
              <a:t>Distinguish encoder-only, decoder-only and encoder-decoder architectures and their uses.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58368" y="4581144"/>
            <a:ext cx="384048" cy="384048"/>
          </a:xfrm>
          <a:prstGeom prst="rect">
            <a:avLst/>
          </a:prstGeom>
          <a:solidFill>
            <a:srgbClr val="7A3E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49808" y="4626864"/>
            <a:ext cx="27432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600"/>
              </a:spcAft>
            </a:pPr>
            <a:r>
              <a:rPr sz="1500" b="1" i="0">
                <a:solidFill>
                  <a:srgbClr val="FFFFFF"/>
                </a:solidFill>
                <a:latin typeface="Calibri"/>
              </a:rPr>
              <a:t>4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316736" y="4544568"/>
            <a:ext cx="10216591" cy="8229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700" b="0" i="0">
                <a:solidFill>
                  <a:srgbClr val="1A1F2B"/>
                </a:solidFill>
                <a:latin typeface="Calibri"/>
              </a:rPr>
              <a:t>Analyse attention's quadratic cost and name the main mitigations.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58368" y="6382512"/>
            <a:ext cx="10874959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000" b="0" i="0">
                <a:solidFill>
                  <a:srgbClr val="5A6375"/>
                </a:solidFill>
                <a:latin typeface="Calibri"/>
              </a:rPr>
              <a:t>DL-601  |  Lecture 13  |  Part IV - Attention, Generation and Production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58368" y="502920"/>
            <a:ext cx="10874959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100" b="1" i="0">
                <a:solidFill>
                  <a:srgbClr val="7A3EA8"/>
                </a:solidFill>
                <a:latin typeface="Calibri"/>
              </a:rPr>
              <a:t>WHERE WE ARE GOING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58368" y="813816"/>
            <a:ext cx="10874959" cy="6858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3000" b="1" i="0">
                <a:solidFill>
                  <a:srgbClr val="1A1F2B"/>
                </a:solidFill>
                <a:latin typeface="Calibri"/>
              </a:rPr>
              <a:t>Agenda</a:t>
            </a:r>
          </a:p>
        </p:txBody>
      </p:sp>
      <p:sp>
        <p:nvSpPr>
          <p:cNvPr id="4" name="Rectangle 3"/>
          <p:cNvSpPr/>
          <p:nvPr/>
        </p:nvSpPr>
        <p:spPr>
          <a:xfrm>
            <a:off x="658368" y="1380744"/>
            <a:ext cx="1371600" cy="44450"/>
          </a:xfrm>
          <a:prstGeom prst="rect">
            <a:avLst/>
          </a:prstGeom>
          <a:solidFill>
            <a:srgbClr val="7A3E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58368" y="1728216"/>
            <a:ext cx="502920" cy="53035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700" b="1" i="0">
                <a:solidFill>
                  <a:srgbClr val="7A3EA8"/>
                </a:solidFill>
                <a:latin typeface="Calibri"/>
              </a:rPr>
              <a:t>01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344168" y="1728216"/>
            <a:ext cx="10189159" cy="53035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800" b="0" i="0">
                <a:solidFill>
                  <a:srgbClr val="1A1F2B"/>
                </a:solidFill>
                <a:latin typeface="Calibri"/>
              </a:rPr>
              <a:t>The idea</a:t>
            </a:r>
          </a:p>
        </p:txBody>
      </p:sp>
      <p:sp>
        <p:nvSpPr>
          <p:cNvPr id="7" name="Rectangle 6"/>
          <p:cNvSpPr/>
          <p:nvPr/>
        </p:nvSpPr>
        <p:spPr>
          <a:xfrm>
            <a:off x="658368" y="2276856"/>
            <a:ext cx="10874959" cy="9525"/>
          </a:xfrm>
          <a:prstGeom prst="rect">
            <a:avLst/>
          </a:prstGeom>
          <a:solidFill>
            <a:srgbClr val="F4F6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58368" y="2331720"/>
            <a:ext cx="502920" cy="53035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700" b="1" i="0">
                <a:solidFill>
                  <a:srgbClr val="7A3EA8"/>
                </a:solidFill>
                <a:latin typeface="Calibri"/>
              </a:rPr>
              <a:t>02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344168" y="2331720"/>
            <a:ext cx="10189159" cy="53035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800" b="0" i="0">
                <a:solidFill>
                  <a:srgbClr val="1A1F2B"/>
                </a:solidFill>
                <a:latin typeface="Calibri"/>
              </a:rPr>
              <a:t>Multi-head attention</a:t>
            </a:r>
          </a:p>
        </p:txBody>
      </p:sp>
      <p:sp>
        <p:nvSpPr>
          <p:cNvPr id="10" name="Rectangle 9"/>
          <p:cNvSpPr/>
          <p:nvPr/>
        </p:nvSpPr>
        <p:spPr>
          <a:xfrm>
            <a:off x="658368" y="2880360"/>
            <a:ext cx="10874959" cy="9525"/>
          </a:xfrm>
          <a:prstGeom prst="rect">
            <a:avLst/>
          </a:prstGeom>
          <a:solidFill>
            <a:srgbClr val="F4F6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58368" y="2935224"/>
            <a:ext cx="502920" cy="53035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700" b="1" i="0">
                <a:solidFill>
                  <a:srgbClr val="7A3EA8"/>
                </a:solidFill>
                <a:latin typeface="Calibri"/>
              </a:rPr>
              <a:t>03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344168" y="2935224"/>
            <a:ext cx="10189159" cy="53035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800" b="0" i="0">
                <a:solidFill>
                  <a:srgbClr val="1A1F2B"/>
                </a:solidFill>
                <a:latin typeface="Calibri"/>
              </a:rPr>
              <a:t>Position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58368" y="3483864"/>
            <a:ext cx="10874959" cy="9525"/>
          </a:xfrm>
          <a:prstGeom prst="rect">
            <a:avLst/>
          </a:prstGeom>
          <a:solidFill>
            <a:srgbClr val="F4F6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58368" y="3538728"/>
            <a:ext cx="502920" cy="53035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700" b="1" i="0">
                <a:solidFill>
                  <a:srgbClr val="7A3EA8"/>
                </a:solidFill>
                <a:latin typeface="Calibri"/>
              </a:rPr>
              <a:t>04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344168" y="3538728"/>
            <a:ext cx="10189159" cy="53035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800" b="0" i="0">
                <a:solidFill>
                  <a:srgbClr val="1A1F2B"/>
                </a:solidFill>
                <a:latin typeface="Calibri"/>
              </a:rPr>
              <a:t>The Transformer block</a:t>
            </a:r>
          </a:p>
        </p:txBody>
      </p:sp>
      <p:sp>
        <p:nvSpPr>
          <p:cNvPr id="16" name="Rectangle 15"/>
          <p:cNvSpPr/>
          <p:nvPr/>
        </p:nvSpPr>
        <p:spPr>
          <a:xfrm>
            <a:off x="658368" y="4087368"/>
            <a:ext cx="10874959" cy="9525"/>
          </a:xfrm>
          <a:prstGeom prst="rect">
            <a:avLst/>
          </a:prstGeom>
          <a:solidFill>
            <a:srgbClr val="F4F6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58368" y="4142232"/>
            <a:ext cx="502920" cy="53035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700" b="1" i="0">
                <a:solidFill>
                  <a:srgbClr val="7A3EA8"/>
                </a:solidFill>
                <a:latin typeface="Calibri"/>
              </a:rPr>
              <a:t>05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344168" y="4142232"/>
            <a:ext cx="10189159" cy="53035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800" b="0" i="0">
                <a:solidFill>
                  <a:srgbClr val="1A1F2B"/>
                </a:solidFill>
                <a:latin typeface="Calibri"/>
              </a:rPr>
              <a:t>Three families</a:t>
            </a:r>
          </a:p>
        </p:txBody>
      </p:sp>
      <p:sp>
        <p:nvSpPr>
          <p:cNvPr id="19" name="Rectangle 18"/>
          <p:cNvSpPr/>
          <p:nvPr/>
        </p:nvSpPr>
        <p:spPr>
          <a:xfrm>
            <a:off x="658368" y="4690872"/>
            <a:ext cx="10874959" cy="9525"/>
          </a:xfrm>
          <a:prstGeom prst="rect">
            <a:avLst/>
          </a:prstGeom>
          <a:solidFill>
            <a:srgbClr val="F4F6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58368" y="4745736"/>
            <a:ext cx="502920" cy="53035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700" b="1" i="0">
                <a:solidFill>
                  <a:srgbClr val="7A3EA8"/>
                </a:solidFill>
                <a:latin typeface="Calibri"/>
              </a:rPr>
              <a:t>06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344168" y="4745736"/>
            <a:ext cx="10189159" cy="53035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800" b="0" i="0">
                <a:solidFill>
                  <a:srgbClr val="1A1F2B"/>
                </a:solidFill>
                <a:latin typeface="Calibri"/>
              </a:rPr>
              <a:t>The cost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58368" y="5294376"/>
            <a:ext cx="10874959" cy="9525"/>
          </a:xfrm>
          <a:prstGeom prst="rect">
            <a:avLst/>
          </a:prstGeom>
          <a:solidFill>
            <a:srgbClr val="F4F6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58368" y="5422392"/>
            <a:ext cx="10874959" cy="411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300" b="0" i="1">
                <a:solidFill>
                  <a:srgbClr val="5A6375"/>
                </a:solidFill>
                <a:latin typeface="Calibri"/>
              </a:rPr>
              <a:t>Then: hands-on lab  →  sentiment.csv, corpus.txt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58368" y="6382512"/>
            <a:ext cx="10874959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000" b="0" i="0">
                <a:solidFill>
                  <a:srgbClr val="5A6375"/>
                </a:solidFill>
                <a:latin typeface="Calibri"/>
              </a:rPr>
              <a:t>DL-601  |  Lecture 13  |  Part IV - Attention, Generation and Production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7A3E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280160" y="2606040"/>
            <a:ext cx="9631375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400" b="1" i="0">
                <a:solidFill>
                  <a:srgbClr val="FFFFFF"/>
                </a:solidFill>
                <a:latin typeface="Calibri"/>
              </a:rPr>
              <a:t>SECTION 01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280160" y="3017520"/>
            <a:ext cx="9631375" cy="12801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3600" b="1" i="0">
                <a:solidFill>
                  <a:srgbClr val="FFFFFF"/>
                </a:solidFill>
                <a:latin typeface="Calibri"/>
              </a:rPr>
              <a:t>The idea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58368" y="502920"/>
            <a:ext cx="10874959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100" b="1" i="0">
                <a:solidFill>
                  <a:srgbClr val="7A3EA8"/>
                </a:solidFill>
                <a:latin typeface="Calibri"/>
              </a:rPr>
              <a:t>LECTURE 13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58368" y="813816"/>
            <a:ext cx="10874959" cy="6858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3000" b="1" i="0">
                <a:solidFill>
                  <a:srgbClr val="1A1F2B"/>
                </a:solidFill>
                <a:latin typeface="Calibri"/>
              </a:rPr>
              <a:t>The idea</a:t>
            </a:r>
          </a:p>
        </p:txBody>
      </p:sp>
      <p:sp>
        <p:nvSpPr>
          <p:cNvPr id="4" name="Rectangle 3"/>
          <p:cNvSpPr/>
          <p:nvPr/>
        </p:nvSpPr>
        <p:spPr>
          <a:xfrm>
            <a:off x="658368" y="1380744"/>
            <a:ext cx="1371600" cy="44450"/>
          </a:xfrm>
          <a:prstGeom prst="rect">
            <a:avLst/>
          </a:prstGeom>
          <a:solidFill>
            <a:srgbClr val="7A3E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658368" y="1655064"/>
            <a:ext cx="10874959" cy="982980"/>
          </a:xfrm>
          <a:prstGeom prst="rect">
            <a:avLst/>
          </a:prstGeom>
          <a:solidFill>
            <a:srgbClr val="F4F6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658368" y="1655064"/>
            <a:ext cx="44450" cy="982980"/>
          </a:xfrm>
          <a:prstGeom prst="rect">
            <a:avLst/>
          </a:prstGeom>
          <a:solidFill>
            <a:srgbClr val="7A3E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1746504"/>
            <a:ext cx="10417759" cy="83667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900" b="0" i="0">
                <a:solidFill>
                  <a:srgbClr val="1A1F2B"/>
                </a:solidFill>
                <a:latin typeface="Calibri"/>
              </a:rPr>
              <a:t>Every position attends to every other position directly. Path length between any two tokens is 1.</a:t>
            </a:r>
          </a:p>
        </p:txBody>
      </p:sp>
      <p:sp>
        <p:nvSpPr>
          <p:cNvPr id="8" name="Rectangle 7"/>
          <p:cNvSpPr/>
          <p:nvPr/>
        </p:nvSpPr>
        <p:spPr>
          <a:xfrm>
            <a:off x="658368" y="2802636"/>
            <a:ext cx="10874959" cy="982980"/>
          </a:xfrm>
          <a:prstGeom prst="rect">
            <a:avLst/>
          </a:prstGeom>
          <a:solidFill>
            <a:srgbClr val="F4F6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658368" y="2802636"/>
            <a:ext cx="44450" cy="982980"/>
          </a:xfrm>
          <a:prstGeom prst="rect">
            <a:avLst/>
          </a:prstGeom>
          <a:solidFill>
            <a:srgbClr val="7A3E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14400" y="2894076"/>
            <a:ext cx="10417759" cy="83667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900" b="0" i="0">
                <a:solidFill>
                  <a:srgbClr val="1A1F2B"/>
                </a:solidFill>
                <a:latin typeface="Calibri"/>
              </a:rPr>
              <a:t>Query, Key, Value: the query asks, keys advertise, values carry the content.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58368" y="3950208"/>
            <a:ext cx="10874959" cy="982980"/>
          </a:xfrm>
          <a:prstGeom prst="rect">
            <a:avLst/>
          </a:prstGeom>
          <a:solidFill>
            <a:srgbClr val="F4F6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658368" y="3950208"/>
            <a:ext cx="44450" cy="982980"/>
          </a:xfrm>
          <a:prstGeom prst="rect">
            <a:avLst/>
          </a:prstGeom>
          <a:solidFill>
            <a:srgbClr val="7A3E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14400" y="4041648"/>
            <a:ext cx="10417759" cy="83667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900" b="0" i="0">
                <a:solidFill>
                  <a:srgbClr val="1A1F2B"/>
                </a:solidFill>
                <a:latin typeface="Calibri"/>
              </a:rPr>
              <a:t>Attention(Q,K,V) = softmax(QK^T / sqrt(d_k)) V.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58368" y="5097780"/>
            <a:ext cx="10874959" cy="982980"/>
          </a:xfrm>
          <a:prstGeom prst="rect">
            <a:avLst/>
          </a:prstGeom>
          <a:solidFill>
            <a:srgbClr val="F4F6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658368" y="5097780"/>
            <a:ext cx="44450" cy="982980"/>
          </a:xfrm>
          <a:prstGeom prst="rect">
            <a:avLst/>
          </a:prstGeom>
          <a:solidFill>
            <a:srgbClr val="7A3E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914400" y="5189220"/>
            <a:ext cx="10417759" cy="83667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900" b="0" i="0">
                <a:solidFill>
                  <a:srgbClr val="1A1F2B"/>
                </a:solidFill>
                <a:latin typeface="Calibri"/>
              </a:rPr>
              <a:t>The sqrt(d_k) matters: without it, dot products grow with dimension and softmax saturates to one-hot.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58368" y="6382512"/>
            <a:ext cx="10874959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000" b="0" i="0">
                <a:solidFill>
                  <a:srgbClr val="5A6375"/>
                </a:solidFill>
                <a:latin typeface="Calibri"/>
              </a:rPr>
              <a:t>DL-601  |  Lecture 13  |  Part IV - Attention, Generation and Production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7A3E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280160" y="2606040"/>
            <a:ext cx="9631375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400" b="1" i="0">
                <a:solidFill>
                  <a:srgbClr val="FFFFFF"/>
                </a:solidFill>
                <a:latin typeface="Calibri"/>
              </a:rPr>
              <a:t>SECTION 02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280160" y="3017520"/>
            <a:ext cx="9631375" cy="12801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3600" b="1" i="0">
                <a:solidFill>
                  <a:srgbClr val="FFFFFF"/>
                </a:solidFill>
                <a:latin typeface="Calibri"/>
              </a:rPr>
              <a:t>Multi-head attention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58368" y="502920"/>
            <a:ext cx="10874959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100" b="1" i="0">
                <a:solidFill>
                  <a:srgbClr val="7A3EA8"/>
                </a:solidFill>
                <a:latin typeface="Calibri"/>
              </a:rPr>
              <a:t>LECTURE 13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58368" y="813816"/>
            <a:ext cx="10874959" cy="6858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3000" b="1" i="0">
                <a:solidFill>
                  <a:srgbClr val="1A1F2B"/>
                </a:solidFill>
                <a:latin typeface="Calibri"/>
              </a:rPr>
              <a:t>Multi-head attention</a:t>
            </a:r>
          </a:p>
        </p:txBody>
      </p:sp>
      <p:sp>
        <p:nvSpPr>
          <p:cNvPr id="4" name="Rectangle 3"/>
          <p:cNvSpPr/>
          <p:nvPr/>
        </p:nvSpPr>
        <p:spPr>
          <a:xfrm>
            <a:off x="658368" y="1380744"/>
            <a:ext cx="1371600" cy="44450"/>
          </a:xfrm>
          <a:prstGeom prst="rect">
            <a:avLst/>
          </a:prstGeom>
          <a:solidFill>
            <a:srgbClr val="7A3E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658368" y="1655064"/>
            <a:ext cx="10874959" cy="1365504"/>
          </a:xfrm>
          <a:prstGeom prst="rect">
            <a:avLst/>
          </a:prstGeom>
          <a:solidFill>
            <a:srgbClr val="F4F6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658368" y="1655064"/>
            <a:ext cx="44450" cy="1365504"/>
          </a:xfrm>
          <a:prstGeom prst="rect">
            <a:avLst/>
          </a:prstGeom>
          <a:solidFill>
            <a:srgbClr val="7A3E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1746504"/>
            <a:ext cx="10417759" cy="1219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900" b="0" i="0">
                <a:solidFill>
                  <a:srgbClr val="1A1F2B"/>
                </a:solidFill>
                <a:latin typeface="Calibri"/>
              </a:rPr>
              <a:t>Project into h subspaces, attend independently in each, concatenate, project out.</a:t>
            </a:r>
          </a:p>
        </p:txBody>
      </p:sp>
      <p:sp>
        <p:nvSpPr>
          <p:cNvPr id="8" name="Rectangle 7"/>
          <p:cNvSpPr/>
          <p:nvPr/>
        </p:nvSpPr>
        <p:spPr>
          <a:xfrm>
            <a:off x="658368" y="3185160"/>
            <a:ext cx="10874959" cy="1365504"/>
          </a:xfrm>
          <a:prstGeom prst="rect">
            <a:avLst/>
          </a:prstGeom>
          <a:solidFill>
            <a:srgbClr val="F4F6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658368" y="3185160"/>
            <a:ext cx="44450" cy="1365504"/>
          </a:xfrm>
          <a:prstGeom prst="rect">
            <a:avLst/>
          </a:prstGeom>
          <a:solidFill>
            <a:srgbClr val="7A3E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14400" y="3276600"/>
            <a:ext cx="10417759" cy="1219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900" b="0" i="0">
                <a:solidFill>
                  <a:srgbClr val="1A1F2B"/>
                </a:solidFill>
                <a:latin typeface="Calibri"/>
              </a:rPr>
              <a:t>Different heads specialise - syntax, coreference, positional patterns - without being told to.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58368" y="4715256"/>
            <a:ext cx="10874959" cy="1365504"/>
          </a:xfrm>
          <a:prstGeom prst="rect">
            <a:avLst/>
          </a:prstGeom>
          <a:solidFill>
            <a:srgbClr val="F4F6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658368" y="4715256"/>
            <a:ext cx="44450" cy="1365504"/>
          </a:xfrm>
          <a:prstGeom prst="rect">
            <a:avLst/>
          </a:prstGeom>
          <a:solidFill>
            <a:srgbClr val="7A3E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14400" y="4806696"/>
            <a:ext cx="10417759" cy="1219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900" b="0" i="0">
                <a:solidFill>
                  <a:srgbClr val="1A1F2B"/>
                </a:solidFill>
                <a:latin typeface="Calibri"/>
              </a:rPr>
              <a:t>Cost is unchanged: each head uses d_model / h dimensions.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58368" y="6382512"/>
            <a:ext cx="10874959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000" b="0" i="0">
                <a:solidFill>
                  <a:srgbClr val="5A6375"/>
                </a:solidFill>
                <a:latin typeface="Calibri"/>
              </a:rPr>
              <a:t>DL-601  |  Lecture 13  |  Part IV - Attention, Generation and Production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7A3E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280160" y="2606040"/>
            <a:ext cx="9631375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400" b="1" i="0">
                <a:solidFill>
                  <a:srgbClr val="FFFFFF"/>
                </a:solidFill>
                <a:latin typeface="Calibri"/>
              </a:rPr>
              <a:t>SECTION 03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280160" y="3017520"/>
            <a:ext cx="9631375" cy="12801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3600" b="1" i="0">
                <a:solidFill>
                  <a:srgbClr val="FFFFFF"/>
                </a:solidFill>
                <a:latin typeface="Calibri"/>
              </a:rPr>
              <a:t>Position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58368" y="502920"/>
            <a:ext cx="10874959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100" b="1" i="0">
                <a:solidFill>
                  <a:srgbClr val="7A3EA8"/>
                </a:solidFill>
                <a:latin typeface="Calibri"/>
              </a:rPr>
              <a:t>LECTURE 13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58368" y="813816"/>
            <a:ext cx="10874959" cy="6858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3000" b="1" i="0">
                <a:solidFill>
                  <a:srgbClr val="1A1F2B"/>
                </a:solidFill>
                <a:latin typeface="Calibri"/>
              </a:rPr>
              <a:t>Position</a:t>
            </a:r>
          </a:p>
        </p:txBody>
      </p:sp>
      <p:sp>
        <p:nvSpPr>
          <p:cNvPr id="4" name="Rectangle 3"/>
          <p:cNvSpPr/>
          <p:nvPr/>
        </p:nvSpPr>
        <p:spPr>
          <a:xfrm>
            <a:off x="658368" y="1380744"/>
            <a:ext cx="1371600" cy="44450"/>
          </a:xfrm>
          <a:prstGeom prst="rect">
            <a:avLst/>
          </a:prstGeom>
          <a:solidFill>
            <a:srgbClr val="7A3E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658368" y="1655064"/>
            <a:ext cx="10874959" cy="982980"/>
          </a:xfrm>
          <a:prstGeom prst="rect">
            <a:avLst/>
          </a:prstGeom>
          <a:solidFill>
            <a:srgbClr val="F4F6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658368" y="1655064"/>
            <a:ext cx="44450" cy="982980"/>
          </a:xfrm>
          <a:prstGeom prst="rect">
            <a:avLst/>
          </a:prstGeom>
          <a:solidFill>
            <a:srgbClr val="7A3E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1746504"/>
            <a:ext cx="10417759" cy="83667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900" b="0" i="0">
                <a:solidFill>
                  <a:srgbClr val="1A1F2B"/>
                </a:solidFill>
                <a:latin typeface="Calibri"/>
              </a:rPr>
              <a:t>Attention is permutation-equivariant - it has no notion of order at all.</a:t>
            </a:r>
          </a:p>
        </p:txBody>
      </p:sp>
      <p:sp>
        <p:nvSpPr>
          <p:cNvPr id="8" name="Rectangle 7"/>
          <p:cNvSpPr/>
          <p:nvPr/>
        </p:nvSpPr>
        <p:spPr>
          <a:xfrm>
            <a:off x="658368" y="2802636"/>
            <a:ext cx="10874959" cy="982980"/>
          </a:xfrm>
          <a:prstGeom prst="rect">
            <a:avLst/>
          </a:prstGeom>
          <a:solidFill>
            <a:srgbClr val="F4F6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658368" y="2802636"/>
            <a:ext cx="44450" cy="982980"/>
          </a:xfrm>
          <a:prstGeom prst="rect">
            <a:avLst/>
          </a:prstGeom>
          <a:solidFill>
            <a:srgbClr val="7A3E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14400" y="2894076"/>
            <a:ext cx="10417759" cy="83667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900" b="0" i="0">
                <a:solidFill>
                  <a:srgbClr val="1A1F2B"/>
                </a:solidFill>
                <a:latin typeface="Calibri"/>
              </a:rPr>
              <a:t>Sinusoidal encodings: fixed, and extrapolate to unseen lengths.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58368" y="3950208"/>
            <a:ext cx="10874959" cy="982980"/>
          </a:xfrm>
          <a:prstGeom prst="rect">
            <a:avLst/>
          </a:prstGeom>
          <a:solidFill>
            <a:srgbClr val="F4F6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658368" y="3950208"/>
            <a:ext cx="44450" cy="982980"/>
          </a:xfrm>
          <a:prstGeom prst="rect">
            <a:avLst/>
          </a:prstGeom>
          <a:solidFill>
            <a:srgbClr val="7A3E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14400" y="4041648"/>
            <a:ext cx="10417759" cy="83667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900" b="0" i="0">
                <a:solidFill>
                  <a:srgbClr val="1A1F2B"/>
                </a:solidFill>
                <a:latin typeface="Calibri"/>
              </a:rPr>
              <a:t>Learned absolute embeddings: simple, standard in BERT and ViT.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58368" y="5097780"/>
            <a:ext cx="10874959" cy="982980"/>
          </a:xfrm>
          <a:prstGeom prst="rect">
            <a:avLst/>
          </a:prstGeom>
          <a:solidFill>
            <a:srgbClr val="F4F6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658368" y="5097780"/>
            <a:ext cx="44450" cy="982980"/>
          </a:xfrm>
          <a:prstGeom prst="rect">
            <a:avLst/>
          </a:prstGeom>
          <a:solidFill>
            <a:srgbClr val="7A3E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914400" y="5189220"/>
            <a:ext cx="10417759" cy="83667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900" b="0" i="0">
                <a:solidFill>
                  <a:srgbClr val="1A1F2B"/>
                </a:solidFill>
                <a:latin typeface="Calibri"/>
              </a:rPr>
              <a:t>Rotary (RoPE) and ALiBi: relative schemes that dominate modern large language models.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58368" y="6382512"/>
            <a:ext cx="10874959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000" b="0" i="0">
                <a:solidFill>
                  <a:srgbClr val="5A6375"/>
                </a:solidFill>
                <a:latin typeface="Calibri"/>
              </a:rPr>
              <a:t>DL-601  |  Lecture 13  |  Part IV - Attention, Generation and Production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7A3E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280160" y="2606040"/>
            <a:ext cx="9631375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400" b="1" i="0">
                <a:solidFill>
                  <a:srgbClr val="FFFFFF"/>
                </a:solidFill>
                <a:latin typeface="Calibri"/>
              </a:rPr>
              <a:t>SECTION 04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280160" y="3017520"/>
            <a:ext cx="9631375" cy="12801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3600" b="1" i="0">
                <a:solidFill>
                  <a:srgbClr val="FFFFFF"/>
                </a:solidFill>
                <a:latin typeface="Calibri"/>
              </a:rPr>
              <a:t>The Transformer block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58368" y="502920"/>
            <a:ext cx="10874959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100" b="1" i="0">
                <a:solidFill>
                  <a:srgbClr val="7A3EA8"/>
                </a:solidFill>
                <a:latin typeface="Calibri"/>
              </a:rPr>
              <a:t>LECTURE 13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58368" y="813816"/>
            <a:ext cx="10874959" cy="6858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3000" b="1" i="0">
                <a:solidFill>
                  <a:srgbClr val="1A1F2B"/>
                </a:solidFill>
                <a:latin typeface="Calibri"/>
              </a:rPr>
              <a:t>The Transformer block</a:t>
            </a:r>
          </a:p>
        </p:txBody>
      </p:sp>
      <p:sp>
        <p:nvSpPr>
          <p:cNvPr id="4" name="Rectangle 3"/>
          <p:cNvSpPr/>
          <p:nvPr/>
        </p:nvSpPr>
        <p:spPr>
          <a:xfrm>
            <a:off x="658368" y="1380744"/>
            <a:ext cx="1371600" cy="44450"/>
          </a:xfrm>
          <a:prstGeom prst="rect">
            <a:avLst/>
          </a:prstGeom>
          <a:solidFill>
            <a:srgbClr val="7A3E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658368" y="1655064"/>
            <a:ext cx="10874959" cy="982980"/>
          </a:xfrm>
          <a:prstGeom prst="rect">
            <a:avLst/>
          </a:prstGeom>
          <a:solidFill>
            <a:srgbClr val="F4F6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658368" y="1655064"/>
            <a:ext cx="44450" cy="982980"/>
          </a:xfrm>
          <a:prstGeom prst="rect">
            <a:avLst/>
          </a:prstGeom>
          <a:solidFill>
            <a:srgbClr val="7A3E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1746504"/>
            <a:ext cx="10417759" cy="83667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900" b="0" i="0">
                <a:solidFill>
                  <a:srgbClr val="1A1F2B"/>
                </a:solidFill>
                <a:latin typeface="Calibri"/>
              </a:rPr>
              <a:t>Sub-layer 1: multi-head self-attention. Sub-layer 2: position-wise feed-forward (usually 4x width).</a:t>
            </a:r>
          </a:p>
        </p:txBody>
      </p:sp>
      <p:sp>
        <p:nvSpPr>
          <p:cNvPr id="8" name="Rectangle 7"/>
          <p:cNvSpPr/>
          <p:nvPr/>
        </p:nvSpPr>
        <p:spPr>
          <a:xfrm>
            <a:off x="658368" y="2802636"/>
            <a:ext cx="10874959" cy="982980"/>
          </a:xfrm>
          <a:prstGeom prst="rect">
            <a:avLst/>
          </a:prstGeom>
          <a:solidFill>
            <a:srgbClr val="F4F6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658368" y="2802636"/>
            <a:ext cx="44450" cy="982980"/>
          </a:xfrm>
          <a:prstGeom prst="rect">
            <a:avLst/>
          </a:prstGeom>
          <a:solidFill>
            <a:srgbClr val="7A3E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14400" y="2894076"/>
            <a:ext cx="10417759" cy="83667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900" b="0" i="0">
                <a:solidFill>
                  <a:srgbClr val="1A1F2B"/>
                </a:solidFill>
                <a:latin typeface="Calibri"/>
              </a:rPr>
              <a:t>Residual connection plus LayerNorm around each sub-layer.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58368" y="3950208"/>
            <a:ext cx="10874959" cy="982980"/>
          </a:xfrm>
          <a:prstGeom prst="rect">
            <a:avLst/>
          </a:prstGeom>
          <a:solidFill>
            <a:srgbClr val="F4F6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658368" y="3950208"/>
            <a:ext cx="44450" cy="982980"/>
          </a:xfrm>
          <a:prstGeom prst="rect">
            <a:avLst/>
          </a:prstGeom>
          <a:solidFill>
            <a:srgbClr val="7A3E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14400" y="4041648"/>
            <a:ext cx="10417759" cy="83667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900" b="0" i="0">
                <a:solidFill>
                  <a:srgbClr val="1A1F2B"/>
                </a:solidFill>
                <a:latin typeface="Calibri"/>
              </a:rPr>
              <a:t>Pre-norm (norm before the sub-layer) trains far more stably than the original post-norm.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58368" y="5097780"/>
            <a:ext cx="10874959" cy="982980"/>
          </a:xfrm>
          <a:prstGeom prst="rect">
            <a:avLst/>
          </a:prstGeom>
          <a:solidFill>
            <a:srgbClr val="F4F6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658368" y="5097780"/>
            <a:ext cx="44450" cy="982980"/>
          </a:xfrm>
          <a:prstGeom prst="rect">
            <a:avLst/>
          </a:prstGeom>
          <a:solidFill>
            <a:srgbClr val="7A3E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914400" y="5189220"/>
            <a:ext cx="10417759" cy="83667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900" b="0" i="0">
                <a:solidFill>
                  <a:srgbClr val="1A1F2B"/>
                </a:solidFill>
                <a:latin typeface="Calibri"/>
              </a:rPr>
              <a:t>Causal masking in the decoder prevents a position from attending to the future.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58368" y="6382512"/>
            <a:ext cx="10874959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000" b="0" i="0">
                <a:solidFill>
                  <a:srgbClr val="5A6375"/>
                </a:solidFill>
                <a:latin typeface="Calibri"/>
              </a:rPr>
              <a:t>DL-601  |  Lecture 13  |  Part IV - Attention, Generation and Production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7A3E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280160" y="2606040"/>
            <a:ext cx="9631375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400" b="1" i="0">
                <a:solidFill>
                  <a:srgbClr val="FFFFFF"/>
                </a:solidFill>
                <a:latin typeface="Calibri"/>
              </a:rPr>
              <a:t>SECTION 05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280160" y="3017520"/>
            <a:ext cx="9631375" cy="12801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3600" b="1" i="0">
                <a:solidFill>
                  <a:srgbClr val="FFFFFF"/>
                </a:solidFill>
                <a:latin typeface="Calibri"/>
              </a:rPr>
              <a:t>Three families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58368" y="502920"/>
            <a:ext cx="10874959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100" b="1" i="0">
                <a:solidFill>
                  <a:srgbClr val="7A3EA8"/>
                </a:solidFill>
                <a:latin typeface="Calibri"/>
              </a:rPr>
              <a:t>LECTURE 13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58368" y="813816"/>
            <a:ext cx="10874959" cy="6858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3000" b="1" i="0">
                <a:solidFill>
                  <a:srgbClr val="1A1F2B"/>
                </a:solidFill>
                <a:latin typeface="Calibri"/>
              </a:rPr>
              <a:t>Three families</a:t>
            </a:r>
          </a:p>
        </p:txBody>
      </p:sp>
      <p:sp>
        <p:nvSpPr>
          <p:cNvPr id="4" name="Rectangle 3"/>
          <p:cNvSpPr/>
          <p:nvPr/>
        </p:nvSpPr>
        <p:spPr>
          <a:xfrm>
            <a:off x="658368" y="1380744"/>
            <a:ext cx="1371600" cy="44450"/>
          </a:xfrm>
          <a:prstGeom prst="rect">
            <a:avLst/>
          </a:prstGeom>
          <a:solidFill>
            <a:srgbClr val="7A3E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658368" y="1655064"/>
            <a:ext cx="10874959" cy="1365504"/>
          </a:xfrm>
          <a:prstGeom prst="rect">
            <a:avLst/>
          </a:prstGeom>
          <a:solidFill>
            <a:srgbClr val="F4F6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658368" y="1655064"/>
            <a:ext cx="44450" cy="1365504"/>
          </a:xfrm>
          <a:prstGeom prst="rect">
            <a:avLst/>
          </a:prstGeom>
          <a:solidFill>
            <a:srgbClr val="7A3E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1746504"/>
            <a:ext cx="10417759" cy="1219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900" b="0" i="0">
                <a:solidFill>
                  <a:srgbClr val="1A1F2B"/>
                </a:solidFill>
                <a:latin typeface="Calibri"/>
              </a:rPr>
              <a:t>Encoder-only (BERT): bidirectional context, for classification and retrieval.</a:t>
            </a:r>
          </a:p>
        </p:txBody>
      </p:sp>
      <p:sp>
        <p:nvSpPr>
          <p:cNvPr id="8" name="Rectangle 7"/>
          <p:cNvSpPr/>
          <p:nvPr/>
        </p:nvSpPr>
        <p:spPr>
          <a:xfrm>
            <a:off x="658368" y="3185160"/>
            <a:ext cx="10874959" cy="1365504"/>
          </a:xfrm>
          <a:prstGeom prst="rect">
            <a:avLst/>
          </a:prstGeom>
          <a:solidFill>
            <a:srgbClr val="F4F6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658368" y="3185160"/>
            <a:ext cx="44450" cy="1365504"/>
          </a:xfrm>
          <a:prstGeom prst="rect">
            <a:avLst/>
          </a:prstGeom>
          <a:solidFill>
            <a:srgbClr val="7A3E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14400" y="3276600"/>
            <a:ext cx="10417759" cy="1219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900" b="0" i="0">
                <a:solidFill>
                  <a:srgbClr val="1A1F2B"/>
                </a:solidFill>
                <a:latin typeface="Calibri"/>
              </a:rPr>
              <a:t>Decoder-only (GPT): causal, for generation. The dominant modern architecture.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58368" y="4715256"/>
            <a:ext cx="10874959" cy="1365504"/>
          </a:xfrm>
          <a:prstGeom prst="rect">
            <a:avLst/>
          </a:prstGeom>
          <a:solidFill>
            <a:srgbClr val="F4F6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658368" y="4715256"/>
            <a:ext cx="44450" cy="1365504"/>
          </a:xfrm>
          <a:prstGeom prst="rect">
            <a:avLst/>
          </a:prstGeom>
          <a:solidFill>
            <a:srgbClr val="7A3E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14400" y="4806696"/>
            <a:ext cx="10417759" cy="1219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900" b="0" i="0">
                <a:solidFill>
                  <a:srgbClr val="1A1F2B"/>
                </a:solidFill>
                <a:latin typeface="Calibri"/>
              </a:rPr>
              <a:t>Encoder-decoder (T5, original Transformer): for sequence-to-sequence tasks like translation.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58368" y="6382512"/>
            <a:ext cx="10874959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000" b="0" i="0">
                <a:solidFill>
                  <a:srgbClr val="5A6375"/>
                </a:solidFill>
                <a:latin typeface="Calibri"/>
              </a:rPr>
              <a:t>DL-601  |  Lecture 13  |  Part IV - Attention, Generation and Production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7A3E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280160" y="2606040"/>
            <a:ext cx="9631375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400" b="1" i="0">
                <a:solidFill>
                  <a:srgbClr val="FFFFFF"/>
                </a:solidFill>
                <a:latin typeface="Calibri"/>
              </a:rPr>
              <a:t>SECTION 06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280160" y="3017520"/>
            <a:ext cx="9631375" cy="12801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3600" b="1" i="0">
                <a:solidFill>
                  <a:srgbClr val="FFFFFF"/>
                </a:solidFill>
                <a:latin typeface="Calibri"/>
              </a:rPr>
              <a:t>The cost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58368" y="502920"/>
            <a:ext cx="10874959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100" b="1" i="0">
                <a:solidFill>
                  <a:srgbClr val="7A3EA8"/>
                </a:solidFill>
                <a:latin typeface="Calibri"/>
              </a:rPr>
              <a:t>LECTURE 13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58368" y="813816"/>
            <a:ext cx="10874959" cy="6858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3000" b="1" i="0">
                <a:solidFill>
                  <a:srgbClr val="1A1F2B"/>
                </a:solidFill>
                <a:latin typeface="Calibri"/>
              </a:rPr>
              <a:t>The cost</a:t>
            </a:r>
          </a:p>
        </p:txBody>
      </p:sp>
      <p:sp>
        <p:nvSpPr>
          <p:cNvPr id="4" name="Rectangle 3"/>
          <p:cNvSpPr/>
          <p:nvPr/>
        </p:nvSpPr>
        <p:spPr>
          <a:xfrm>
            <a:off x="658368" y="1380744"/>
            <a:ext cx="1371600" cy="44450"/>
          </a:xfrm>
          <a:prstGeom prst="rect">
            <a:avLst/>
          </a:prstGeom>
          <a:solidFill>
            <a:srgbClr val="7A3E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658368" y="1655064"/>
            <a:ext cx="10874959" cy="982980"/>
          </a:xfrm>
          <a:prstGeom prst="rect">
            <a:avLst/>
          </a:prstGeom>
          <a:solidFill>
            <a:srgbClr val="F4F6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658368" y="1655064"/>
            <a:ext cx="44450" cy="982980"/>
          </a:xfrm>
          <a:prstGeom prst="rect">
            <a:avLst/>
          </a:prstGeom>
          <a:solidFill>
            <a:srgbClr val="7A3E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1746504"/>
            <a:ext cx="10417759" cy="83667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900" b="0" i="0">
                <a:solidFill>
                  <a:srgbClr val="1A1F2B"/>
                </a:solidFill>
                <a:latin typeface="Calibri"/>
              </a:rPr>
              <a:t>Attention is O(n^2) in sequence length, in both time and memory.</a:t>
            </a:r>
          </a:p>
        </p:txBody>
      </p:sp>
      <p:sp>
        <p:nvSpPr>
          <p:cNvPr id="8" name="Rectangle 7"/>
          <p:cNvSpPr/>
          <p:nvPr/>
        </p:nvSpPr>
        <p:spPr>
          <a:xfrm>
            <a:off x="658368" y="2802636"/>
            <a:ext cx="10874959" cy="982980"/>
          </a:xfrm>
          <a:prstGeom prst="rect">
            <a:avLst/>
          </a:prstGeom>
          <a:solidFill>
            <a:srgbClr val="F4F6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658368" y="2802636"/>
            <a:ext cx="44450" cy="982980"/>
          </a:xfrm>
          <a:prstGeom prst="rect">
            <a:avLst/>
          </a:prstGeom>
          <a:solidFill>
            <a:srgbClr val="7A3E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14400" y="2894076"/>
            <a:ext cx="10417759" cy="83667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900" b="0" i="0">
                <a:solidFill>
                  <a:srgbClr val="1A1F2B"/>
                </a:solidFill>
                <a:latin typeface="Calibri"/>
              </a:rPr>
              <a:t>FlashAttention removes the memory cost with tiling and recomputation - exact, not approximate.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58368" y="3950208"/>
            <a:ext cx="10874959" cy="982980"/>
          </a:xfrm>
          <a:prstGeom prst="rect">
            <a:avLst/>
          </a:prstGeom>
          <a:solidFill>
            <a:srgbClr val="F4F6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658368" y="3950208"/>
            <a:ext cx="44450" cy="982980"/>
          </a:xfrm>
          <a:prstGeom prst="rect">
            <a:avLst/>
          </a:prstGeom>
          <a:solidFill>
            <a:srgbClr val="7A3E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14400" y="4041648"/>
            <a:ext cx="10417759" cy="83667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900" b="0" i="0">
                <a:solidFill>
                  <a:srgbClr val="1A1F2B"/>
                </a:solidFill>
                <a:latin typeface="Calibri"/>
              </a:rPr>
              <a:t>Sparse and linear attention approximate the matrix; sliding windows bound the span.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58368" y="5097780"/>
            <a:ext cx="10874959" cy="982980"/>
          </a:xfrm>
          <a:prstGeom prst="rect">
            <a:avLst/>
          </a:prstGeom>
          <a:solidFill>
            <a:srgbClr val="F4F6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658368" y="5097780"/>
            <a:ext cx="44450" cy="982980"/>
          </a:xfrm>
          <a:prstGeom prst="rect">
            <a:avLst/>
          </a:prstGeom>
          <a:solidFill>
            <a:srgbClr val="7A3E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914400" y="5189220"/>
            <a:ext cx="10417759" cy="83667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900" b="0" i="0">
                <a:solidFill>
                  <a:srgbClr val="1A1F2B"/>
                </a:solidFill>
                <a:latin typeface="Calibri"/>
              </a:rPr>
              <a:t>In practice the feed-forward layers hold most of the parameters; attention holds most of the cost at long n.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58368" y="6382512"/>
            <a:ext cx="10874959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000" b="0" i="0">
                <a:solidFill>
                  <a:srgbClr val="5A6375"/>
                </a:solidFill>
                <a:latin typeface="Calibri"/>
              </a:rPr>
              <a:t>DL-601  |  Lecture 13  |  Part IV - Attention, Generation and Production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58368" y="502920"/>
            <a:ext cx="10874959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100" b="1" i="0">
                <a:solidFill>
                  <a:srgbClr val="7A3EA8"/>
                </a:solidFill>
                <a:latin typeface="Calibri"/>
              </a:rPr>
              <a:t>NOTEBOOK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58368" y="813816"/>
            <a:ext cx="10874959" cy="6858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3000" b="1" i="0">
                <a:solidFill>
                  <a:srgbClr val="1A1F2B"/>
                </a:solidFill>
                <a:latin typeface="Calibri"/>
              </a:rPr>
              <a:t>Hands-on lab</a:t>
            </a:r>
          </a:p>
        </p:txBody>
      </p:sp>
      <p:sp>
        <p:nvSpPr>
          <p:cNvPr id="4" name="Rectangle 3"/>
          <p:cNvSpPr/>
          <p:nvPr/>
        </p:nvSpPr>
        <p:spPr>
          <a:xfrm>
            <a:off x="658368" y="1380744"/>
            <a:ext cx="1371600" cy="44450"/>
          </a:xfrm>
          <a:prstGeom prst="rect">
            <a:avLst/>
          </a:prstGeom>
          <a:solidFill>
            <a:srgbClr val="7A3E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658368" y="1655064"/>
            <a:ext cx="10874959" cy="1737360"/>
          </a:xfrm>
          <a:prstGeom prst="rect">
            <a:avLst/>
          </a:prstGeom>
          <a:solidFill>
            <a:srgbClr val="F4F6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658368" y="1655064"/>
            <a:ext cx="50800" cy="1737360"/>
          </a:xfrm>
          <a:prstGeom prst="rect">
            <a:avLst/>
          </a:prstGeom>
          <a:solidFill>
            <a:srgbClr val="7A3E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50976" y="1856232"/>
            <a:ext cx="10289743" cy="1371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700" b="0" i="0">
                <a:solidFill>
                  <a:srgbClr val="1A1F2B"/>
                </a:solidFill>
                <a:latin typeface="Calibri"/>
              </a:rPr>
              <a:t>Implement scaled dot-product attention, multi-head attention, sinusoidal positional encoding and a full pre-norm encoder block from scratch, verifying each against torch.nn.MultiheadAttention; train a Transformer classifier on the sentiment corpus; visualise attention weights; and measure the quadratic scaling empirically.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58368" y="3666744"/>
            <a:ext cx="13716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400" b="1" i="0">
                <a:solidFill>
                  <a:srgbClr val="7A3EA8"/>
                </a:solidFill>
                <a:latin typeface="Calibri"/>
              </a:rPr>
              <a:t>Notebook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121408" y="3666744"/>
            <a:ext cx="9411919" cy="411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400" b="0" i="0">
                <a:solidFill>
                  <a:srgbClr val="1A1F2B"/>
                </a:solidFill>
                <a:latin typeface="Consolas"/>
              </a:rPr>
              <a:t>notebooks/L13_Attention_and_the_Transformer.ipynb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58368" y="4142232"/>
            <a:ext cx="13716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400" b="1" i="0">
                <a:solidFill>
                  <a:srgbClr val="7A3EA8"/>
                </a:solidFill>
                <a:latin typeface="Calibri"/>
              </a:rPr>
              <a:t>Data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121408" y="4142232"/>
            <a:ext cx="9411919" cy="411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400" b="0" i="0">
                <a:solidFill>
                  <a:srgbClr val="1A1F2B"/>
                </a:solidFill>
                <a:latin typeface="Consolas"/>
              </a:rPr>
              <a:t>sentiment.csv, corpus.txt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58368" y="4617720"/>
            <a:ext cx="13716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400" b="1" i="0">
                <a:solidFill>
                  <a:srgbClr val="7A3EA8"/>
                </a:solidFill>
                <a:latin typeface="Calibri"/>
              </a:rPr>
              <a:t>Helpers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121408" y="4617720"/>
            <a:ext cx="9411919" cy="411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400" b="0" i="0">
                <a:solidFill>
                  <a:srgbClr val="1A1F2B"/>
                </a:solidFill>
                <a:latin typeface="Consolas"/>
              </a:rPr>
              <a:t>from dlcourse import load_shapes, train, evaluate, show_grid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58368" y="6382512"/>
            <a:ext cx="10874959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000" b="0" i="0">
                <a:solidFill>
                  <a:srgbClr val="5A6375"/>
                </a:solidFill>
                <a:latin typeface="Calibri"/>
              </a:rPr>
              <a:t>DL-601  |  Lecture 13  |  Part IV - Attention, Generation and Production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58368" y="502920"/>
            <a:ext cx="10874959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100" b="1" i="0">
                <a:solidFill>
                  <a:srgbClr val="7A3EA8"/>
                </a:solidFill>
                <a:latin typeface="Calibri"/>
              </a:rPr>
              <a:t>DUE BEFORE THE NEXT LECTURE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58368" y="813816"/>
            <a:ext cx="10874959" cy="6858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3000" b="1" i="0">
                <a:solidFill>
                  <a:srgbClr val="1A1F2B"/>
                </a:solidFill>
                <a:latin typeface="Calibri"/>
              </a:rPr>
              <a:t>Your tasks</a:t>
            </a:r>
          </a:p>
        </p:txBody>
      </p:sp>
      <p:sp>
        <p:nvSpPr>
          <p:cNvPr id="4" name="Rectangle 3"/>
          <p:cNvSpPr/>
          <p:nvPr/>
        </p:nvSpPr>
        <p:spPr>
          <a:xfrm>
            <a:off x="658368" y="1380744"/>
            <a:ext cx="1371600" cy="44450"/>
          </a:xfrm>
          <a:prstGeom prst="rect">
            <a:avLst/>
          </a:prstGeom>
          <a:solidFill>
            <a:srgbClr val="7A3E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58368" y="1655064"/>
            <a:ext cx="548640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300" b="1" i="0">
                <a:solidFill>
                  <a:srgbClr val="7A3EA8"/>
                </a:solidFill>
                <a:latin typeface="Calibri"/>
              </a:rPr>
              <a:t>CORE — all 7 required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58368" y="2039112"/>
            <a:ext cx="5486400" cy="38404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500" b="0" i="0">
                <a:solidFill>
                  <a:srgbClr val="1A1F2B"/>
                </a:solidFill>
                <a:latin typeface="Calibri"/>
              </a:rPr>
              <a:t>1.  Scaled dot-product attention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58368" y="2450592"/>
            <a:ext cx="5486400" cy="38404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500" b="0" i="0">
                <a:solidFill>
                  <a:srgbClr val="1A1F2B"/>
                </a:solidFill>
                <a:latin typeface="Calibri"/>
              </a:rPr>
              <a:t>2.  Why sqrt(d_k)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58368" y="2862072"/>
            <a:ext cx="5486400" cy="38404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500" b="0" i="0">
                <a:solidFill>
                  <a:srgbClr val="1A1F2B"/>
                </a:solidFill>
                <a:latin typeface="Calibri"/>
              </a:rPr>
              <a:t>3.  Multi-head attention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58368" y="3273552"/>
            <a:ext cx="5486400" cy="38404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500" b="0" i="0">
                <a:solidFill>
                  <a:srgbClr val="1A1F2B"/>
                </a:solidFill>
                <a:latin typeface="Calibri"/>
              </a:rPr>
              <a:t>4.  Positional encoding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58368" y="3685032"/>
            <a:ext cx="5486400" cy="38404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500" b="0" i="0">
                <a:solidFill>
                  <a:srgbClr val="1A1F2B"/>
                </a:solidFill>
                <a:latin typeface="Calibri"/>
              </a:rPr>
              <a:t>5.  Encoder block and classifier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58368" y="4096512"/>
            <a:ext cx="5486400" cy="38404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500" b="0" i="0">
                <a:solidFill>
                  <a:srgbClr val="1A1F2B"/>
                </a:solidFill>
                <a:latin typeface="Calibri"/>
              </a:rPr>
              <a:t>6.  Attention visualisation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58368" y="4507992"/>
            <a:ext cx="5486400" cy="38404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500" b="0" i="0">
                <a:solidFill>
                  <a:srgbClr val="1A1F2B"/>
                </a:solidFill>
                <a:latin typeface="Calibri"/>
              </a:rPr>
              <a:t>7.  Causal masking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601968" y="1655064"/>
            <a:ext cx="493776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300" b="1" i="0">
                <a:solidFill>
                  <a:srgbClr val="5A6375"/>
                </a:solidFill>
                <a:latin typeface="Calibri"/>
              </a:rPr>
              <a:t>STRETCH — 2 optional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601968" y="2039112"/>
            <a:ext cx="4937760" cy="38404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500" b="0" i="0">
                <a:solidFill>
                  <a:srgbClr val="5A6375"/>
                </a:solidFill>
                <a:latin typeface="Calibri"/>
              </a:rPr>
              <a:t>1.  Quadratic scaling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601968" y="2450592"/>
            <a:ext cx="4937760" cy="38404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500" b="0" i="0">
                <a:solidFill>
                  <a:srgbClr val="5A6375"/>
                </a:solidFill>
                <a:latin typeface="Calibri"/>
              </a:rPr>
              <a:t>2.  Pre-norm versus post-norm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58368" y="5897880"/>
            <a:ext cx="10874959" cy="411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300" b="0" i="1">
                <a:solidFill>
                  <a:srgbClr val="5A6375"/>
                </a:solidFill>
                <a:latin typeface="Calibri"/>
              </a:rPr>
              <a:t>Full instructions: tasks/Lecture_13_Tasks.md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58368" y="6382512"/>
            <a:ext cx="10874959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000" b="0" i="0">
                <a:solidFill>
                  <a:srgbClr val="5A6375"/>
                </a:solidFill>
                <a:latin typeface="Calibri"/>
              </a:rPr>
              <a:t>DL-601  |  Lecture 13  |  Part IV - Attention, Generation and Production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58368" y="502920"/>
            <a:ext cx="10874959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100" b="1" i="0">
                <a:solidFill>
                  <a:srgbClr val="7A3EA8"/>
                </a:solidFill>
                <a:latin typeface="Calibri"/>
              </a:rPr>
              <a:t>GO DEEPER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58368" y="813816"/>
            <a:ext cx="10874959" cy="6858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3000" b="1" i="0">
                <a:solidFill>
                  <a:srgbClr val="1A1F2B"/>
                </a:solidFill>
                <a:latin typeface="Calibri"/>
              </a:rPr>
              <a:t>Reading</a:t>
            </a:r>
          </a:p>
        </p:txBody>
      </p:sp>
      <p:sp>
        <p:nvSpPr>
          <p:cNvPr id="4" name="Rectangle 3"/>
          <p:cNvSpPr/>
          <p:nvPr/>
        </p:nvSpPr>
        <p:spPr>
          <a:xfrm>
            <a:off x="658368" y="1380744"/>
            <a:ext cx="1371600" cy="44450"/>
          </a:xfrm>
          <a:prstGeom prst="rect">
            <a:avLst/>
          </a:prstGeom>
          <a:solidFill>
            <a:srgbClr val="7A3E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58368" y="1764792"/>
            <a:ext cx="36576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600" b="1" i="0">
                <a:solidFill>
                  <a:srgbClr val="7A3EA8"/>
                </a:solidFill>
                <a:latin typeface="Calibri"/>
              </a:rPr>
              <a:t>▸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69848" y="1764792"/>
            <a:ext cx="10463479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600" b="0" i="0">
                <a:solidFill>
                  <a:srgbClr val="1A1F2B"/>
                </a:solidFill>
                <a:latin typeface="Calibri"/>
              </a:rPr>
              <a:t>Vaswani et al. (2017), Attention Is All You Need.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58368" y="2331720"/>
            <a:ext cx="36576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600" b="1" i="0">
                <a:solidFill>
                  <a:srgbClr val="7A3EA8"/>
                </a:solidFill>
                <a:latin typeface="Calibri"/>
              </a:rPr>
              <a:t>▸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69848" y="2331720"/>
            <a:ext cx="10463479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600" b="0" i="0">
                <a:solidFill>
                  <a:srgbClr val="1A1F2B"/>
                </a:solidFill>
                <a:latin typeface="Calibri"/>
              </a:rPr>
              <a:t>Alammar, The Illustrated Transformer.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58368" y="2898648"/>
            <a:ext cx="36576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600" b="1" i="0">
                <a:solidFill>
                  <a:srgbClr val="7A3EA8"/>
                </a:solidFill>
                <a:latin typeface="Calibri"/>
              </a:rPr>
              <a:t>▸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69848" y="2898648"/>
            <a:ext cx="10463479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600" b="0" i="0">
                <a:solidFill>
                  <a:srgbClr val="1A1F2B"/>
                </a:solidFill>
                <a:latin typeface="Calibri"/>
              </a:rPr>
              <a:t>Xiong et al. (2020), On Layer Normalization in the Transformer Architecture.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58368" y="3465576"/>
            <a:ext cx="36576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600" b="1" i="0">
                <a:solidFill>
                  <a:srgbClr val="7A3EA8"/>
                </a:solidFill>
                <a:latin typeface="Calibri"/>
              </a:rPr>
              <a:t>▸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69848" y="3465576"/>
            <a:ext cx="10463479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600" b="0" i="0">
                <a:solidFill>
                  <a:srgbClr val="1A1F2B"/>
                </a:solidFill>
                <a:latin typeface="Calibri"/>
              </a:rPr>
              <a:t>Dao et al. (2022), FlashAttention.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58368" y="6382512"/>
            <a:ext cx="10874959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000" b="0" i="0">
                <a:solidFill>
                  <a:srgbClr val="5A6375"/>
                </a:solidFill>
                <a:latin typeface="Calibri"/>
              </a:rPr>
              <a:t>DL-601  |  Lecture 13  |  Part IV - Attention, Generation and Production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6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58368" y="502920"/>
            <a:ext cx="10874959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100" b="1" i="0">
                <a:solidFill>
                  <a:srgbClr val="7A3EA8"/>
                </a:solidFill>
                <a:latin typeface="Calibri"/>
              </a:rPr>
              <a:t>SUMMARY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813816"/>
            <a:ext cx="10874959" cy="6858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3000" b="1" i="0">
                <a:solidFill>
                  <a:srgbClr val="1A1F2B"/>
                </a:solidFill>
                <a:latin typeface="Calibri"/>
              </a:rPr>
              <a:t>What to take away</a:t>
            </a:r>
          </a:p>
        </p:txBody>
      </p:sp>
      <p:sp>
        <p:nvSpPr>
          <p:cNvPr id="5" name="Rectangle 4"/>
          <p:cNvSpPr/>
          <p:nvPr/>
        </p:nvSpPr>
        <p:spPr>
          <a:xfrm>
            <a:off x="658368" y="1380744"/>
            <a:ext cx="1371600" cy="44450"/>
          </a:xfrm>
          <a:prstGeom prst="rect">
            <a:avLst/>
          </a:prstGeom>
          <a:solidFill>
            <a:srgbClr val="7A3E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658368" y="1837944"/>
            <a:ext cx="128016" cy="128016"/>
          </a:xfrm>
          <a:prstGeom prst="rect">
            <a:avLst/>
          </a:prstGeom>
          <a:solidFill>
            <a:srgbClr val="7A3E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24128" y="1691640"/>
            <a:ext cx="10509199" cy="62179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600" b="0" i="0">
                <a:solidFill>
                  <a:srgbClr val="1A1F2B"/>
                </a:solidFill>
                <a:latin typeface="Calibri"/>
              </a:rPr>
              <a:t>Every position attends to every other position directly. Path length between any two tokens is 1.</a:t>
            </a:r>
          </a:p>
        </p:txBody>
      </p:sp>
      <p:sp>
        <p:nvSpPr>
          <p:cNvPr id="8" name="Rectangle 7"/>
          <p:cNvSpPr/>
          <p:nvPr/>
        </p:nvSpPr>
        <p:spPr>
          <a:xfrm>
            <a:off x="658368" y="2514600"/>
            <a:ext cx="128016" cy="128016"/>
          </a:xfrm>
          <a:prstGeom prst="rect">
            <a:avLst/>
          </a:prstGeom>
          <a:solidFill>
            <a:srgbClr val="7A3E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24128" y="2368296"/>
            <a:ext cx="10509199" cy="62179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600" b="0" i="0">
                <a:solidFill>
                  <a:srgbClr val="1A1F2B"/>
                </a:solidFill>
                <a:latin typeface="Calibri"/>
              </a:rPr>
              <a:t>Project into h subspaces, attend independently in each, concatenate, project out.</a:t>
            </a:r>
          </a:p>
        </p:txBody>
      </p:sp>
      <p:sp>
        <p:nvSpPr>
          <p:cNvPr id="10" name="Rectangle 9"/>
          <p:cNvSpPr/>
          <p:nvPr/>
        </p:nvSpPr>
        <p:spPr>
          <a:xfrm>
            <a:off x="658368" y="3191256"/>
            <a:ext cx="128016" cy="128016"/>
          </a:xfrm>
          <a:prstGeom prst="rect">
            <a:avLst/>
          </a:prstGeom>
          <a:solidFill>
            <a:srgbClr val="7A3E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024128" y="3044952"/>
            <a:ext cx="10509199" cy="62179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600" b="0" i="0">
                <a:solidFill>
                  <a:srgbClr val="1A1F2B"/>
                </a:solidFill>
                <a:latin typeface="Calibri"/>
              </a:rPr>
              <a:t>Attention is permutation-equivariant - it has no notion of order at all.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58368" y="3867912"/>
            <a:ext cx="128016" cy="128016"/>
          </a:xfrm>
          <a:prstGeom prst="rect">
            <a:avLst/>
          </a:prstGeom>
          <a:solidFill>
            <a:srgbClr val="7A3E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024128" y="3721608"/>
            <a:ext cx="10509199" cy="62179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600" b="0" i="0">
                <a:solidFill>
                  <a:srgbClr val="1A1F2B"/>
                </a:solidFill>
                <a:latin typeface="Calibri"/>
              </a:rPr>
              <a:t>Sub-layer 1: multi-head self-attention. Sub-layer 2: position-wise feed-forward (usually 4x width).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58368" y="4544568"/>
            <a:ext cx="128016" cy="128016"/>
          </a:xfrm>
          <a:prstGeom prst="rect">
            <a:avLst/>
          </a:prstGeom>
          <a:solidFill>
            <a:srgbClr val="7A3E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024128" y="4398264"/>
            <a:ext cx="10509199" cy="62179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600" b="0" i="0">
                <a:solidFill>
                  <a:srgbClr val="1A1F2B"/>
                </a:solidFill>
                <a:latin typeface="Calibri"/>
              </a:rPr>
              <a:t>Encoder-only (BERT): bidirectional context, for classification and retrieval.</a:t>
            </a:r>
          </a:p>
        </p:txBody>
      </p:sp>
      <p:sp>
        <p:nvSpPr>
          <p:cNvPr id="16" name="Rectangle 15"/>
          <p:cNvSpPr/>
          <p:nvPr/>
        </p:nvSpPr>
        <p:spPr>
          <a:xfrm>
            <a:off x="658368" y="5221224"/>
            <a:ext cx="128016" cy="128016"/>
          </a:xfrm>
          <a:prstGeom prst="rect">
            <a:avLst/>
          </a:prstGeom>
          <a:solidFill>
            <a:srgbClr val="7A3E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024128" y="5074920"/>
            <a:ext cx="10509199" cy="62179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600" b="0" i="0">
                <a:solidFill>
                  <a:srgbClr val="1A1F2B"/>
                </a:solidFill>
                <a:latin typeface="Calibri"/>
              </a:rPr>
              <a:t>Attention is O(n^2) in sequence length, in both time and memory.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58368" y="5852160"/>
            <a:ext cx="10874959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400" b="1" i="0">
                <a:solidFill>
                  <a:srgbClr val="7A3EA8"/>
                </a:solidFill>
                <a:latin typeface="Calibri"/>
              </a:rPr>
              <a:t>Next — Lecture 14: Vision Transformers and Self-Supervised Learning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58368" y="6382512"/>
            <a:ext cx="10874959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000" b="0" i="0">
                <a:solidFill>
                  <a:srgbClr val="5A6375"/>
                </a:solidFill>
                <a:latin typeface="Calibri"/>
              </a:rPr>
              <a:t>DL-601  |  Lecture 13  |  Part IV - Attention, Generation and Production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