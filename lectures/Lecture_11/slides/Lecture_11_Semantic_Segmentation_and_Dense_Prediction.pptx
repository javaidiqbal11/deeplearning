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371600"/>
            <a:ext cx="100885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C16A1C"/>
                </a:solidFill>
                <a:latin typeface="Calibri"/>
              </a:rPr>
              <a:t>DL-601  ·  Part III - Vision Systems and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828800"/>
            <a:ext cx="1008857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5A6375"/>
                </a:solidFill>
                <a:latin typeface="Calibri"/>
              </a:rPr>
              <a:t>Lecture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286000"/>
            <a:ext cx="9814255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000" b="1" i="0">
                <a:solidFill>
                  <a:srgbClr val="1A1F2B"/>
                </a:solidFill>
                <a:latin typeface="Calibri"/>
              </a:rPr>
              <a:t>Semantic Segmentation and Dense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4069080"/>
            <a:ext cx="98142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1">
                <a:solidFill>
                  <a:srgbClr val="5A6375"/>
                </a:solidFill>
                <a:latin typeface="Calibri"/>
              </a:rPr>
              <a:t>One prediction per pixel, and the encoder-decoder that makes it possible.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4846320"/>
            <a:ext cx="1828800" cy="4445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5212080"/>
            <a:ext cx="1008857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5A6375"/>
                </a:solidFill>
                <a:latin typeface="Calibri"/>
              </a:rPr>
              <a:t>Deep Learning — Foundations, Computer Vision and Production Systems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A6375"/>
                </a:solidFill>
                <a:latin typeface="Calibri"/>
              </a:rPr>
              <a:t>Senior AI Engineer, Course Instructor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16A1C"/>
                </a:solidFill>
                <a:latin typeface="Calibri"/>
              </a:rPr>
              <a:t>BY THE END OF THIS LECTURE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Learning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783080"/>
            <a:ext cx="384048" cy="384048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828800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6736" y="1746504"/>
            <a:ext cx="1021659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Distinguish semantic, instance and panoptic segmentation and their evaluation metrics.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715768"/>
            <a:ext cx="384048" cy="384048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761488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6736" y="2679192"/>
            <a:ext cx="1021659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Explain why an encoder-decoder with skip connections outperforms naive upsampling.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648456"/>
            <a:ext cx="384048" cy="384048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694176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3611880"/>
            <a:ext cx="1021659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Implement U-Net from scratch and train it on multi-object scenes.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4581144"/>
            <a:ext cx="384048" cy="384048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4626864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16736" y="4544568"/>
            <a:ext cx="1021659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Compute mean IoU and Dice, and apply loss functions that handle class imbalance.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11  |  Part III - Vision Systems and Deployment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16A1C"/>
                </a:solidFill>
                <a:latin typeface="Calibri"/>
              </a:rPr>
              <a:t>WHERE WE ARE GOING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764792"/>
            <a:ext cx="502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C16A1C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4168" y="1783080"/>
            <a:ext cx="1018915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F2B"/>
                </a:solidFill>
                <a:latin typeface="Calibri"/>
              </a:rPr>
              <a:t>Three segmentation tasks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267712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368296"/>
            <a:ext cx="502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C16A1C"/>
                </a:solidFill>
                <a:latin typeface="Calibr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2386584"/>
            <a:ext cx="1018915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F2B"/>
                </a:solidFill>
                <a:latin typeface="Calibri"/>
              </a:rPr>
              <a:t>The resolution problem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871216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971800"/>
            <a:ext cx="502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C16A1C"/>
                </a:solidFill>
                <a:latin typeface="Calibr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4168" y="2990088"/>
            <a:ext cx="1018915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F2B"/>
                </a:solidFill>
                <a:latin typeface="Calibri"/>
              </a:rPr>
              <a:t>Encoder-decoder with skip connections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474720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575304"/>
            <a:ext cx="502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C16A1C"/>
                </a:solidFill>
                <a:latin typeface="Calibri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593592"/>
            <a:ext cx="1018915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F2B"/>
                </a:solidFill>
                <a:latin typeface="Calibri"/>
              </a:rPr>
              <a:t>Upsampling operators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078224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4178808"/>
            <a:ext cx="502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C16A1C"/>
                </a:solidFill>
                <a:latin typeface="Calibri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4168" y="4197096"/>
            <a:ext cx="1018915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F2B"/>
                </a:solidFill>
                <a:latin typeface="Calibri"/>
              </a:rPr>
              <a:t>Losses for dense prediction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4681728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4782312"/>
            <a:ext cx="502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C16A1C"/>
                </a:solidFill>
                <a:latin typeface="Calibri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44168" y="4800600"/>
            <a:ext cx="1018915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F2B"/>
                </a:solidFill>
                <a:latin typeface="Calibri"/>
              </a:rPr>
              <a:t>Evaluation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5285232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5495544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5A6375"/>
                </a:solidFill>
                <a:latin typeface="Calibri"/>
              </a:rPr>
              <a:t>Then: hands-on lab  →  shapes_seg.npz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11  |  Part III - Vision Systems and Deployment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Three segmentation tasks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16A1C"/>
                </a:solidFill>
                <a:latin typeface="Calibri"/>
              </a:rPr>
              <a:t>LECTURE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Three segmentation tasks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136550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1365504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Semantic: one class label per pixel; two adjacent cars are one 'car' region.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3185160"/>
            <a:ext cx="10874959" cy="136550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3185160"/>
            <a:ext cx="44450" cy="1365504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76600"/>
            <a:ext cx="10417759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Instance: separates object instances, but ignores background 'stuff'.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4715256"/>
            <a:ext cx="10874959" cy="136550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4715256"/>
            <a:ext cx="44450" cy="1365504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806696"/>
            <a:ext cx="10417759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Panoptic: unifies both - every pixel gets a class and, where applicable, an instance id.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11  |  Part III - Vision Systems and Deployment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The resolution problem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16A1C"/>
                </a:solidFill>
                <a:latin typeface="Calibri"/>
              </a:rPr>
              <a:t>LECTURE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The resolution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136550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1365504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Classification backbones downsample aggressively - 32x is typical - to build semantic depth.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3185160"/>
            <a:ext cx="10874959" cy="136550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3185160"/>
            <a:ext cx="44450" cy="1365504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76600"/>
            <a:ext cx="10417759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Dense prediction needs full input resolution back.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4715256"/>
            <a:ext cx="10874959" cy="136550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4715256"/>
            <a:ext cx="44450" cy="1365504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806696"/>
            <a:ext cx="10417759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Naive upsampling from a 1/32-scale map produces blobby, boundary-blind masks.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11  |  Part III - Vision Systems and Deployment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Encoder-decoder with skip connections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16A1C"/>
                </a:solidFill>
                <a:latin typeface="Calibri"/>
              </a:rPr>
              <a:t>LECTURE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Encoder-decoder with skip connections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98298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Encoder: downsample, growing the receptive field and the semantic content.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802636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802636"/>
            <a:ext cx="44450" cy="98298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94076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Decoder: upsample back to input resolution.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950208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950208"/>
            <a:ext cx="44450" cy="98298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41648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Skip connections carry high-resolution spatial detail from encoder to decoder.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5097780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5097780"/>
            <a:ext cx="44450" cy="98298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189220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U-Net's symmetric design with concatenating skips remains the strongest simple baseline.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11  |  Part III - Vision Systems and Deployment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Upsampling operators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16A1C"/>
                </a:solidFill>
                <a:latin typeface="Calibri"/>
              </a:rPr>
              <a:t>LECTURE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Upsampling operators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98298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Nearest and bilinear interpolation: parameter-free, no checkerboard artefacts.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802636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802636"/>
            <a:ext cx="44450" cy="98298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94076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Transposed convolution: learned, but produces checkerboard artefacts when stride and kernel mismatch.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950208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950208"/>
            <a:ext cx="44450" cy="98298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41648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Recommended: bilinear upsample followed by a 3x3 convolution. Cleaner and just as expressive.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5097780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5097780"/>
            <a:ext cx="44450" cy="98298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189220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Dilated/atrous convolution: keep resolution while growing the receptive field (DeepLab).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11  |  Part III - Vision Systems and Deployment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Losses for dense prediction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16A1C"/>
                </a:solidFill>
                <a:latin typeface="Calibri"/>
              </a:rPr>
              <a:t>LECTURE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Losses for dense prediction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98298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Pixel-wise cross-entropy is the default but is dominated by background pixels.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802636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802636"/>
            <a:ext cx="44450" cy="98298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94076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Class-weighted cross-entropy: weight inversely to pixel frequency.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950208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950208"/>
            <a:ext cx="44450" cy="98298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41648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Dice loss optimises overlap directly and is robust to imbalance.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5097780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5097780"/>
            <a:ext cx="44450" cy="98298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189220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Combined CE + Dice is the reliable practical default.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11  |  Part III - Vision Systems and Deployment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Evaluation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16A1C"/>
                </a:solidFill>
                <a:latin typeface="Calibri"/>
              </a:rPr>
              <a:t>LECTURE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98298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Per-class IoU = TP / (TP + FP + FN), then mean IoU over classes.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802636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802636"/>
            <a:ext cx="44450" cy="98298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94076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Dice = 2TP / (2TP + FP + FN) - monotonically related to IoU but weights differently.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950208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950208"/>
            <a:ext cx="44450" cy="98298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41648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Report per-class IoU, never only the mean. The mean hides a failed rare class.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5097780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5097780"/>
            <a:ext cx="44450" cy="98298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189220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Pixel accuracy is misleading: predicting all background can score 90%.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11  |  Part III - Vision Systems and Deployment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16A1C"/>
                </a:solidFill>
                <a:latin typeface="Calibri"/>
              </a:rPr>
              <a:t>NOTEBOOK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Hands-on lab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17373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50800" cy="173736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856232"/>
            <a:ext cx="10289743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Implement U-Net from scratch, train it on the 96x96 shape scenes for 5-class segmentation, compare cross-entropy against Dice against the combination, implement mean IoU and Dice metrics, and show the effect of removing the skip connections.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666744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C16A1C"/>
                </a:solidFill>
                <a:latin typeface="Calibri"/>
              </a:rPr>
              <a:t>Notebook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21408" y="3666744"/>
            <a:ext cx="941191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A1F2B"/>
                </a:solidFill>
                <a:latin typeface="Consolas"/>
              </a:rPr>
              <a:t>notebooks/L11_Semantic_Segmentation_and_Dense_Prediction.ipynb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14223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C16A1C"/>
                </a:solidFill>
                <a:latin typeface="Calibri"/>
              </a:rPr>
              <a:t>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21408" y="4142232"/>
            <a:ext cx="941191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A1F2B"/>
                </a:solidFill>
                <a:latin typeface="Consolas"/>
              </a:rPr>
              <a:t>shapes_seg.npz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6177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C16A1C"/>
                </a:solidFill>
                <a:latin typeface="Calibri"/>
              </a:rPr>
              <a:t>Helpers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21408" y="4617720"/>
            <a:ext cx="941191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A1F2B"/>
                </a:solidFill>
                <a:latin typeface="Consolas"/>
              </a:rPr>
              <a:t>from dlcourse import load_shapes, train, evaluate, show_grid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11  |  Part III - Vision Systems and Deployment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16A1C"/>
                </a:solidFill>
                <a:latin typeface="Calibri"/>
              </a:rPr>
              <a:t>DUE BEFORE THE NEXT LECTURE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Your tasks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655064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C16A1C"/>
                </a:solidFill>
                <a:latin typeface="Calibri"/>
              </a:rPr>
              <a:t>CORE — all 6 required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3911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1.  U-Net 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45059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2.  Train and visualise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86207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3.  mIoU and Dice from scratch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27355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4.  Loss comparison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68503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5.  Skip connections ablation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09651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6.  Class imbalance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1655064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5A6375"/>
                </a:solidFill>
                <a:latin typeface="Calibri"/>
              </a:rPr>
              <a:t>STRETCH — 2 optional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2039112"/>
            <a:ext cx="49377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5A6375"/>
                </a:solidFill>
                <a:latin typeface="Calibri"/>
              </a:rPr>
              <a:t>1.  Checkerboard artefacts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1968" y="2450592"/>
            <a:ext cx="49377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5A6375"/>
                </a:solidFill>
                <a:latin typeface="Calibri"/>
              </a:rPr>
              <a:t>2.  Boundary-aware evaluation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897880"/>
            <a:ext cx="1087495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5A6375"/>
                </a:solidFill>
                <a:latin typeface="Calibri"/>
              </a:rPr>
              <a:t>Full instructions: tasks/Lecture_11_Tasks.md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11  |  Part III - Vision Systems and Deployment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16A1C"/>
                </a:solidFill>
                <a:latin typeface="Calibri"/>
              </a:rPr>
              <a:t>GO DEEPER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Reading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764792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C16A1C"/>
                </a:solidFill>
                <a:latin typeface="Calibri"/>
              </a:rPr>
              <a:t>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1764792"/>
            <a:ext cx="104634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Ronneberger et al. (2015), U-Net: Convolutional Networks for Biomedical Image Segmentation.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3317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C16A1C"/>
                </a:solidFill>
                <a:latin typeface="Calibri"/>
              </a:rPr>
              <a:t>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331720"/>
            <a:ext cx="104634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Long et al. (2015), Fully Convolutional Networks for Semantic Segmentation.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898648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C16A1C"/>
                </a:solidFill>
                <a:latin typeface="Calibri"/>
              </a:rPr>
              <a:t>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898648"/>
            <a:ext cx="104634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Chen et al. (2018), DeepLabv3+.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465576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C16A1C"/>
                </a:solidFill>
                <a:latin typeface="Calibri"/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3465576"/>
            <a:ext cx="104634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Odena et al. (2016), Deconvolution and Checkerboard Artifacts.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11  |  Part III - Vision Systems and Deployment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16A1C"/>
                </a:solidFill>
                <a:latin typeface="Calibr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What to take away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883664"/>
            <a:ext cx="146304" cy="146304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" y="1700784"/>
            <a:ext cx="10490911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Semantic: one class label per pixel; two adjacent cars are one 'car' region.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596896"/>
            <a:ext cx="146304" cy="146304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2414016"/>
            <a:ext cx="10490911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Classification backbones downsample aggressively - 32x is typical - to build semantic depth.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3310128"/>
            <a:ext cx="146304" cy="146304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6" y="3127248"/>
            <a:ext cx="10490911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Encoder: downsample, growing the receptive field and the semantic content.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4023360"/>
            <a:ext cx="146304" cy="146304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6" y="3840480"/>
            <a:ext cx="10490911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Nearest and bilinear interpolation: parameter-free, no checkerboard artefacts.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4736592"/>
            <a:ext cx="146304" cy="146304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6" y="4553712"/>
            <a:ext cx="10490911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Pixel-wise cross-entropy is the default but is dominated by background pixels.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5449824"/>
            <a:ext cx="146304" cy="146304"/>
          </a:xfrm>
          <a:prstGeom prst="rect">
            <a:avLst/>
          </a:prstGeom>
          <a:solidFill>
            <a:srgbClr val="C16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2416" y="5266944"/>
            <a:ext cx="10490911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Per-class IoU = TP / (TP + FP + FN), then mean IoU over classes.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852160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C16A1C"/>
                </a:solidFill>
                <a:latin typeface="Calibri"/>
              </a:rPr>
              <a:t>Next — Lecture 12: Sequence Models: RNNs, LSTMs and Image Captioning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11  |  Part III - Vision Systems and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