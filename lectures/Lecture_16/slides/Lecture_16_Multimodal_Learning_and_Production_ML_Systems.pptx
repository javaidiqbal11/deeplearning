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1371600"/>
            <a:ext cx="100885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7A3EA8"/>
                </a:solidFill>
                <a:latin typeface="Calibri"/>
              </a:rPr>
              <a:t>DL-601  ·  Part IV - Attention, Generation and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828800"/>
            <a:ext cx="1008857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5A6375"/>
                </a:solidFill>
                <a:latin typeface="Calibri"/>
              </a:rPr>
              <a:t>Lecture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286000"/>
            <a:ext cx="9814255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4000" b="1" i="0">
                <a:solidFill>
                  <a:srgbClr val="1A1F2B"/>
                </a:solidFill>
                <a:latin typeface="Calibri"/>
              </a:rPr>
              <a:t>Multimodal Learning and Production ML Systems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4069080"/>
            <a:ext cx="981425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1">
                <a:solidFill>
                  <a:srgbClr val="5A6375"/>
                </a:solidFill>
                <a:latin typeface="Calibri"/>
              </a:rPr>
              <a:t>Joining vision to language, and shipping the result responsibly.</a:t>
            </a:r>
          </a:p>
        </p:txBody>
      </p:sp>
      <p:sp>
        <p:nvSpPr>
          <p:cNvPr id="8" name="Rectangle 7"/>
          <p:cNvSpPr/>
          <p:nvPr/>
        </p:nvSpPr>
        <p:spPr>
          <a:xfrm>
            <a:off x="1051560" y="4846320"/>
            <a:ext cx="1828800" cy="4445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5212080"/>
            <a:ext cx="1008857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5A6375"/>
                </a:solidFill>
                <a:latin typeface="Calibri"/>
              </a:rPr>
              <a:t>Deep Learning — Foundations, Computer Vision and Production Systems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A6375"/>
                </a:solidFill>
                <a:latin typeface="Calibri"/>
              </a:rPr>
              <a:t>Senior AI Engineer, Course Instructor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7A3EA8"/>
                </a:solidFill>
                <a:latin typeface="Calibri"/>
              </a:rPr>
              <a:t>BY THE END OF THIS LECTURE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Learning objectives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783080"/>
            <a:ext cx="384048" cy="384048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828800"/>
            <a:ext cx="274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16736" y="1746504"/>
            <a:ext cx="10216591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Explain contrastive vision-language pre-training and how it enables zero-shot classification.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715768"/>
            <a:ext cx="384048" cy="384048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761488"/>
            <a:ext cx="274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6736" y="2679192"/>
            <a:ext cx="10216591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Implement a small CLIP-style dual encoder and perform zero-shot and retrieval tasks.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648456"/>
            <a:ext cx="384048" cy="384048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3694176"/>
            <a:ext cx="274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16736" y="3611880"/>
            <a:ext cx="10216591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Design a production ML system: versioning, monitoring, drift detection and rollback.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4581144"/>
            <a:ext cx="384048" cy="384048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4626864"/>
            <a:ext cx="274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16736" y="4544568"/>
            <a:ext cx="10216591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Audit a model for robustness, fairness and calibration before release.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16  |  Part IV - Attention, Generation and Production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7A3EA8"/>
                </a:solidFill>
                <a:latin typeface="Calibri"/>
              </a:rPr>
              <a:t>WHERE WE ARE GOING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764792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7A3EA8"/>
                </a:solidFill>
                <a:latin typeface="Calibr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44168" y="1783080"/>
            <a:ext cx="101891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F2B"/>
                </a:solidFill>
                <a:latin typeface="Calibri"/>
              </a:rPr>
              <a:t>Multimodal learning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267712"/>
            <a:ext cx="10874959" cy="952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368296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7A3EA8"/>
                </a:solidFill>
                <a:latin typeface="Calibr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44168" y="2386584"/>
            <a:ext cx="101891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F2B"/>
                </a:solidFill>
                <a:latin typeface="Calibri"/>
              </a:rPr>
              <a:t>What multimodal buys you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871216"/>
            <a:ext cx="10874959" cy="952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97180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7A3EA8"/>
                </a:solidFill>
                <a:latin typeface="Calibri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44168" y="2990088"/>
            <a:ext cx="101891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F2B"/>
                </a:solidFill>
                <a:latin typeface="Calibri"/>
              </a:rPr>
              <a:t>Production architecture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3474720"/>
            <a:ext cx="10874959" cy="952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3575304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7A3EA8"/>
                </a:solidFill>
                <a:latin typeface="Calibri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593592"/>
            <a:ext cx="101891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F2B"/>
                </a:solidFill>
                <a:latin typeface="Calibri"/>
              </a:rPr>
              <a:t>Monitoring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4078224"/>
            <a:ext cx="10874959" cy="952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4178808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7A3EA8"/>
                </a:solidFill>
                <a:latin typeface="Calibri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44168" y="4197096"/>
            <a:ext cx="101891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F2B"/>
                </a:solidFill>
                <a:latin typeface="Calibri"/>
              </a:rPr>
              <a:t>Pre-release audit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4681728"/>
            <a:ext cx="10874959" cy="952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4782312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7A3EA8"/>
                </a:solidFill>
                <a:latin typeface="Calibri"/>
              </a:rP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44168" y="4800600"/>
            <a:ext cx="101891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F2B"/>
                </a:solidFill>
                <a:latin typeface="Calibri"/>
              </a:rPr>
              <a:t>Where the field is going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5285232"/>
            <a:ext cx="10874959" cy="952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5495544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1">
                <a:solidFill>
                  <a:srgbClr val="5A6375"/>
                </a:solidFill>
                <a:latin typeface="Calibri"/>
              </a:rPr>
              <a:t>Then: hands-on lab  →  shapes_32.npz, captions.csv, shapes_pairs.npz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16  |  Part IV - Attention, Generation and Production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606040"/>
            <a:ext cx="96313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SECTION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017520"/>
            <a:ext cx="963137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Multimodal learning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7A3EA8"/>
                </a:solidFill>
                <a:latin typeface="Calibri"/>
              </a:rPr>
              <a:t>LECTURE 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Multimodal learning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655064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655064"/>
            <a:ext cx="44450" cy="98298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46504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Fusion strategies: early (concatenate inputs), late (combine predictions), joint embedding.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802636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2802636"/>
            <a:ext cx="44450" cy="98298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894076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CLIP: an image encoder and a text encoder trained to agree on matched pairs, over 400M of them.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950208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3950208"/>
            <a:ext cx="44450" cy="98298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041648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Symmetric InfoNCE over the image-text similarity matrix, with a learned temperature.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5097780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5097780"/>
            <a:ext cx="44450" cy="98298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189220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Zero-shot classification: embed the class names as text prompts and take the nearest.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16  |  Part IV - Attention, Generation and Production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606040"/>
            <a:ext cx="96313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SECTION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017520"/>
            <a:ext cx="963137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What multimodal buys you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7A3EA8"/>
                </a:solidFill>
                <a:latin typeface="Calibri"/>
              </a:rPr>
              <a:t>LECTURE 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What multimodal buys you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655064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655064"/>
            <a:ext cx="44450" cy="98298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46504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Zero-shot transfer to classes never explicitly labelled during training.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802636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2802636"/>
            <a:ext cx="44450" cy="98298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894076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Text-to-image and image-to-text retrieval from the same shared embedding space.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950208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3950208"/>
            <a:ext cx="44450" cy="98298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041648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The backbone for text-to-image generation and for vision-language models.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5097780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5097780"/>
            <a:ext cx="44450" cy="98298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189220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Limits: prompt sensitivity, weak compositional reasoning, and inherited web-scale bias.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16  |  Part IV - Attention, Generation and Production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606040"/>
            <a:ext cx="96313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SECTION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017520"/>
            <a:ext cx="963137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Production architecture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7A3EA8"/>
                </a:solidFill>
                <a:latin typeface="Calibri"/>
              </a:rPr>
              <a:t>LECTURE 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Production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655064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655064"/>
            <a:ext cx="44450" cy="98298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46504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Offline training pipeline versus the online serving path - different constraints, different code.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802636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2802636"/>
            <a:ext cx="44450" cy="98298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894076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A feature or preprocessing store keeps training and serving transformations identical.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950208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3950208"/>
            <a:ext cx="44450" cy="98298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041648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Model registry: versioned artefacts with metrics, lineage and an approval stage.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5097780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5097780"/>
            <a:ext cx="44450" cy="98298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189220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Shadow deployment, then canary, then full rollout. Keep the rollback path one command away.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16  |  Part IV - Attention, Generation and Production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606040"/>
            <a:ext cx="96313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SECTION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017520"/>
            <a:ext cx="963137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Monitoring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7A3EA8"/>
                </a:solidFill>
                <a:latin typeface="Calibri"/>
              </a:rPr>
              <a:t>LECTURE 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Monitoring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655064"/>
            <a:ext cx="10874959" cy="75346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655064"/>
            <a:ext cx="44450" cy="753465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46504"/>
            <a:ext cx="10417759" cy="6071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Operational: latency percentiles, throughput, error rate, saturation.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573121"/>
            <a:ext cx="10874959" cy="75346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2573121"/>
            <a:ext cx="44450" cy="753465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664561"/>
            <a:ext cx="10417759" cy="6071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Input drift: distribution shift in the incoming data, detectable without any labels.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491179"/>
            <a:ext cx="10874959" cy="75346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3491179"/>
            <a:ext cx="44450" cy="753465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582619"/>
            <a:ext cx="10417759" cy="6071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Prediction drift: a shift in the output distribution - the earliest available warning.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4409236"/>
            <a:ext cx="10874959" cy="75346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4409236"/>
            <a:ext cx="44450" cy="753465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500676"/>
            <a:ext cx="10417759" cy="6071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Performance: needs labels, which usually arrive late or never. Plan the feedback loop deliberately.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5327294"/>
            <a:ext cx="10874959" cy="75346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8368" y="5327294"/>
            <a:ext cx="44450" cy="753465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418734"/>
            <a:ext cx="10417759" cy="6071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Set alert thresholds from a real baseline, not from intuition.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16  |  Part IV - Attention, Generation and Production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606040"/>
            <a:ext cx="96313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SECTION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017520"/>
            <a:ext cx="963137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Pre-release audit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7A3EA8"/>
                </a:solidFill>
                <a:latin typeface="Calibri"/>
              </a:rPr>
              <a:t>LECTURE 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Pre-release audit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655064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655064"/>
            <a:ext cx="44450" cy="98298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46504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Robustness: corruption benchmarks, adversarial examples, out-of-distribution detection.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802636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2802636"/>
            <a:ext cx="44450" cy="98298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894076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Fairness: subgroup performance, not aggregate accuracy. Pick a fairness definition and justify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950208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3950208"/>
            <a:ext cx="44450" cy="98298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041648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Calibration: a confidence score that downstream systems will act on must actually mean something.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5097780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5097780"/>
            <a:ext cx="44450" cy="98298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189220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Documentation: a model card stating intended use, training data, evaluation and known limitations.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16  |  Part IV - Attention, Generation and Production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606040"/>
            <a:ext cx="96313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SECTION 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017520"/>
            <a:ext cx="963137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Where the field is going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7A3EA8"/>
                </a:solidFill>
                <a:latin typeface="Calibri"/>
              </a:rPr>
              <a:t>LECTURE 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Where the field is going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655064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655064"/>
            <a:ext cx="44450" cy="98298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46504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Scaling laws, and the growing dominance of compute-optimal training.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802636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2802636"/>
            <a:ext cx="44450" cy="98298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894076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Foundation models plus lightweight adaptation (LoRA, adapters, prompt tuning).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950208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3950208"/>
            <a:ext cx="44450" cy="98298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041648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Efficiency: quantisation, distillation, pruning - the difference between a demo and a product.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5097780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5097780"/>
            <a:ext cx="44450" cy="98298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189220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Open problems: reasoning, sample efficiency, reliable uncertainty, and verifiable alignment.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16  |  Part IV - Attention, Generation and Production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7A3EA8"/>
                </a:solidFill>
                <a:latin typeface="Calibri"/>
              </a:rPr>
              <a:t>NOTEBOOK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Hands-on lab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655064"/>
            <a:ext cx="10874959" cy="173736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655064"/>
            <a:ext cx="50800" cy="173736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856232"/>
            <a:ext cx="10289743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Build a CLIP-style dual encoder over the shapes images and their captions, train it with symmetric InfoNCE, run zero-shot classification from text prompts and bidirectional retrieval; then build the production layer: a versioned model registry, a FastAPI service with monitoring and drift detection endpoints, and a complete pre-release audit with a model card.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66674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7A3EA8"/>
                </a:solidFill>
                <a:latin typeface="Calibri"/>
              </a:rPr>
              <a:t>Notebook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21408" y="3666744"/>
            <a:ext cx="941191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A1F2B"/>
                </a:solidFill>
                <a:latin typeface="Consolas"/>
              </a:rPr>
              <a:t>notebooks/L16_Multimodal_Learning_and_Production_ML_System.ipynb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142232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7A3EA8"/>
                </a:solidFill>
                <a:latin typeface="Calibri"/>
              </a:rPr>
              <a:t>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21408" y="4142232"/>
            <a:ext cx="941191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A1F2B"/>
                </a:solidFill>
                <a:latin typeface="Consolas"/>
              </a:rPr>
              <a:t>shapes_32.npz, captions.csv, shapes_pairs.npz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61772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7A3EA8"/>
                </a:solidFill>
                <a:latin typeface="Calibri"/>
              </a:rPr>
              <a:t>Helpers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21408" y="4617720"/>
            <a:ext cx="941191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A1F2B"/>
                </a:solidFill>
                <a:latin typeface="Consolas"/>
              </a:rPr>
              <a:t>from dlcourse import load_shapes, train, evaluate, show_grid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5093208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7A3EA8"/>
                </a:solidFill>
                <a:latin typeface="Calibri"/>
              </a:rPr>
              <a:t>Service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21408" y="5093208"/>
            <a:ext cx="941191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A1F2B"/>
                </a:solidFill>
                <a:latin typeface="Consolas"/>
              </a:rPr>
              <a:t>Production FastAPI service in app/ - registry, monitoring, drift detection, model card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16  |  Part IV - Attention, Generation and Production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7A3EA8"/>
                </a:solidFill>
                <a:latin typeface="Calibri"/>
              </a:rPr>
              <a:t>DUE BEFORE THE NEXT LECTURE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Your tasks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65506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7A3EA8"/>
                </a:solidFill>
                <a:latin typeface="Calibri"/>
              </a:rPr>
              <a:t>CORE — all 8 required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03911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1F2B"/>
                </a:solidFill>
                <a:latin typeface="Calibri"/>
              </a:rPr>
              <a:t>1.  Dual encoder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45059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1F2B"/>
                </a:solidFill>
                <a:latin typeface="Calibri"/>
              </a:rPr>
              <a:t>2.  Symmetric contrastive loss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86207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1F2B"/>
                </a:solidFill>
                <a:latin typeface="Calibri"/>
              </a:rPr>
              <a:t>3.  Zero-shot classification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27355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1F2B"/>
                </a:solidFill>
                <a:latin typeface="Calibri"/>
              </a:rPr>
              <a:t>4.  Prompt sensitivity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68503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1F2B"/>
                </a:solidFill>
                <a:latin typeface="Calibri"/>
              </a:rPr>
              <a:t>5.  Bidirectional retrieval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409651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1F2B"/>
                </a:solidFill>
                <a:latin typeface="Calibri"/>
              </a:rPr>
              <a:t>6.  Model registry and serving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50799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1F2B"/>
                </a:solidFill>
                <a:latin typeface="Calibri"/>
              </a:rPr>
              <a:t>7.  Drift detection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491947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1F2B"/>
                </a:solidFill>
                <a:latin typeface="Calibri"/>
              </a:rPr>
              <a:t>8.  Model card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1968" y="1655064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5A6375"/>
                </a:solidFill>
                <a:latin typeface="Calibri"/>
              </a:rPr>
              <a:t>STRETCH — 2 optional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01968" y="2039112"/>
            <a:ext cx="493776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5A6375"/>
                </a:solidFill>
                <a:latin typeface="Calibri"/>
              </a:rPr>
              <a:t>1.  Robustness benchmark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01968" y="2450592"/>
            <a:ext cx="493776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5A6375"/>
                </a:solidFill>
                <a:latin typeface="Calibri"/>
              </a:rPr>
              <a:t>2.  Quantisation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5897880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1">
                <a:solidFill>
                  <a:srgbClr val="5A6375"/>
                </a:solidFill>
                <a:latin typeface="Calibri"/>
              </a:rPr>
              <a:t>Full instructions: tasks/Lecture_16_Tasks.md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16  |  Part IV - Attention, Generation and Production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7A3EA8"/>
                </a:solidFill>
                <a:latin typeface="Calibri"/>
              </a:rPr>
              <a:t>GO DEEPER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Reading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764792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7A3EA8"/>
                </a:solidFill>
                <a:latin typeface="Calibri"/>
              </a:rPr>
              <a:t>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" y="1764792"/>
            <a:ext cx="1046347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Radford et al. (2021), Learning Transferable Visual Models From Natural Language Supervision (CLIP).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33172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7A3EA8"/>
                </a:solidFill>
                <a:latin typeface="Calibri"/>
              </a:rPr>
              <a:t>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" y="2331720"/>
            <a:ext cx="1046347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Mitchell et al. (2019), Model Cards for Model Reporting.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898648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7A3EA8"/>
                </a:solidFill>
                <a:latin typeface="Calibri"/>
              </a:rPr>
              <a:t>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2898648"/>
            <a:ext cx="1046347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Sculley et al. (2015), Hidden Technical Debt in Machine Learning Systems.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465576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7A3EA8"/>
                </a:solidFill>
                <a:latin typeface="Calibri"/>
              </a:rPr>
              <a:t>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" y="3465576"/>
            <a:ext cx="1046347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Hendrycks &amp; Dietterich (2019), Benchmarking Neural Network Robustness to Common Corruptions.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16  |  Part IV - Attention, Generation and Production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7A3EA8"/>
                </a:solidFill>
                <a:latin typeface="Calibri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What to take away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883664"/>
            <a:ext cx="146304" cy="146304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2416" y="1700784"/>
            <a:ext cx="1049091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Fusion strategies: early (concatenate inputs), late (combine predictions), joint embedding.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596896"/>
            <a:ext cx="146304" cy="146304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414016"/>
            <a:ext cx="1049091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Zero-shot transfer to classes never explicitly labelled during training.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3310128"/>
            <a:ext cx="146304" cy="146304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2416" y="3127248"/>
            <a:ext cx="1049091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Offline training pipeline versus the online serving path - different constraints, different code.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4023360"/>
            <a:ext cx="146304" cy="146304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2416" y="3840480"/>
            <a:ext cx="1049091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Operational: latency percentiles, throughput, error rate, saturation.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4736592"/>
            <a:ext cx="146304" cy="146304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" y="4553712"/>
            <a:ext cx="1049091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Robustness: corruption benchmarks, adversarial examples, out-of-distribution detection.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5449824"/>
            <a:ext cx="146304" cy="146304"/>
          </a:xfrm>
          <a:prstGeom prst="rect">
            <a:avLst/>
          </a:prstGeom>
          <a:solidFill>
            <a:srgbClr val="7A3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2416" y="5266944"/>
            <a:ext cx="1049091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Scaling laws, and the growing dominance of compute-optimal training.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16  |  Part IV - Attention, Generation and Production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