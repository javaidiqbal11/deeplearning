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16A1C"/>
                </a:solidFill>
                <a:latin typeface="Calibri"/>
              </a:rPr>
              <a:t>DL-601  ·  Part III - Vision Systems and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5A6375"/>
                </a:solidFill>
                <a:latin typeface="Calibri"/>
              </a:rPr>
              <a:t>Lecture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981425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1A1F2B"/>
                </a:solidFill>
                <a:latin typeface="Calibri"/>
              </a:rPr>
              <a:t>Sequence Models: RNNs, LSTMs and Image Captioning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069080"/>
            <a:ext cx="98142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5A6375"/>
                </a:solidFill>
                <a:latin typeface="Calibri"/>
              </a:rPr>
              <a:t>Memory, and the reason it eventually was not enough.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846320"/>
            <a:ext cx="18288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212080"/>
            <a:ext cx="100885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375"/>
                </a:solidFill>
                <a:latin typeface="Calibri"/>
              </a:rPr>
              <a:t>Deep Learning — Foundations, Computer Vision and Production Systems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375"/>
                </a:solidFill>
                <a:latin typeface="Calibri"/>
              </a:rPr>
              <a:t>Senior AI Engineer, Course Instructor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BY THE END OF THIS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83080"/>
            <a:ext cx="384048" cy="384048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746504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Explain recurrence, parameter sharing across time, and backpropagation through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15768"/>
            <a:ext cx="384048" cy="384048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76148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679192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Derive why vanilla RNN gradients vanish, and how gating in an LSTM or GRU addresses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648456"/>
            <a:ext cx="384048" cy="384048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694176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611880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Build a character-level language model and a CNN-encoder / RNN-decoder captioning model.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81144"/>
            <a:ext cx="384048" cy="384048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62686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4544568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Articulate the sequential bottleneck that motivated the Transformer.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12  |  Part III - Vision Systems and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WHERE WE ARE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28216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16A1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728216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Recurrence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276856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16A1C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331720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Backpropagation through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880360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935224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16A1C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935224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LSTM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483864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538728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16A1C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538728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Text as input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087368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142232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16A1C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4142232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Image captioning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690872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745736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16A1C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4745736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The bottleneck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294376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422392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Then: hands-on lab  →  corpus.txt, sentiment.csv, captions.csv, shapes_32.npz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12  |  Part III - Vision Systems and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Recurrence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LECTURE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Recurrence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h_t = tanh(W_hh h_{t-1} + W_xh x_t + b) - the same weights at every timestep.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Weight sharing across time is the sequence analogue of weight sharing across space in a CNN.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Configurations: one-to-many (captioning), many-to-one (classification), many-to-many (translation).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12  |  Part III - Vision Systems and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Backpropagation through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LECTURE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Backpropagation through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Unroll the network over the sequence and apply standard backpropagation.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The gradient through T steps contains W_hh raised to the power 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Spectral radius below 1 vanishes; above 1 explodes. There is no comfortable middle for long sequences.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Truncated BPTT bounds the cost; gradient clipping handles the explosion.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12  |  Part III - Vision Systems and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LSTM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LECTURE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LSTM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 cell state runs through the sequence with only additive interactions - an uninterrupted gradient path.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Forget gate decides what to discard, input gate what to write, output gate what to expose.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Initialise the forget-gate bias to 1: remember by default, learn to forget.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GRU merges cell and hidden state into two gates - fewer parameters, usually comparable accuracy.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12  |  Part III - Vision Systems and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Text as input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LECTURE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Text as input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Tokenisation: character, word, or subword (BPE / WordPiece). Subword is the modern default.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Embeddings map discrete token ids to dense learned vectors.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Padding plus a mask, or pack_padded_sequence, for variable-length batches.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Never let the loss count padded positions.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12  |  Part III - Vision Systems and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Image captioning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LECTURE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Image captioning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CNN encoder produces a feature vector; RNN decoder generates tokens conditioned on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Teacher forcing: feed the ground-truth token during training, the model's own output at inference.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That mismatch is exposure bias; scheduled sampling is one partial remedy.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Decoding: greedy is fast, beam search is better, sampling with temperature is more diverse.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12  |  Part III - Vision Systems and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The bottleneck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LECTURE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The bottleneck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Recurrence is inherently sequential - timestep t cannot start before t-1 finishes. No parallelism.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 single fixed-size hidden state must summarise the entire history.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Attention was invented to relieve exactly this, and then replaced recurrence altogether.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12  |  Part III - Vision Systems and Deployment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Hands-on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737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50800" cy="173736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56232"/>
            <a:ext cx="1028974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Implement an RNN cell and an LSTM cell from scratch and verify against PyTorch; train a character-level language model on the corpus and sample from it; demonstrate the vanishing-gradient difference between RNN and LSTM on a long-range copy task; then build CNN-encoder / LSTM-decoder captioning on the shapes images with greedy and beam-search decoding.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6674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16A1C"/>
                </a:solidFill>
                <a:latin typeface="Calibri"/>
              </a:rPr>
              <a:t>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3666744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notebooks/L12_Sequence_Models_RNNs_LSTMs_and_Image_Caption.ipynb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1422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16A1C"/>
                </a:solidFill>
                <a:latin typeface="Calibri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4142232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corpus.txt, sentiment.csv, captions.csv, shapes_32.npz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17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16A1C"/>
                </a:solidFill>
                <a:latin typeface="Calibri"/>
              </a:rPr>
              <a:t>Helpers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4617720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from dlcourse import load_shapes, train, evaluate, show_grid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12  |  Part III - Vision Systems and Deployment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DUE BEFORE THE NEXT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Your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5506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16A1C"/>
                </a:solidFill>
                <a:latin typeface="Calibri"/>
              </a:rPr>
              <a:t>CORE — all 6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391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1.  RNN cell from scratch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505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2.  LSTM cell from scratch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3.  Character language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735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4.  Long-range copy 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8503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5.  Gradient flow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0965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6.  Image captioning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65506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6375"/>
                </a:solidFill>
                <a:latin typeface="Calibri"/>
              </a:rPr>
              <a:t>STRETCH — 2 optional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03911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1.  Beam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45059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2.  Gradient clipping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897880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Full instructions: tasks/Lecture_12_Tasks.md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12  |  Part III - Vision Systems and Deployment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6479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16A1C"/>
                </a:solidFill>
                <a:latin typeface="Calibri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1764792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Hochreiter &amp; Schmidhuber (1997), Long Short-Term Memory.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16A1C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331720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Karpathy (2015), The Unreasonable Effectiveness of Recurrent Neural Networks.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9864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16A1C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98648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Vinyals et al. (2015), Show and Tell: A Neural Image Caption Generator.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465576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16A1C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465576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Pascanu et al. (2013), On the Difficulty of Training Recurrent Neural Networks.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12  |  Part III - Vision Systems and Deployment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What to take 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37944"/>
            <a:ext cx="128016" cy="128016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691640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h_t = tanh(W_hh h_{t-1} + W_xh x_t + b) - the same weights at every timestep.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14600"/>
            <a:ext cx="128016" cy="128016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68296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Unroll the network over the sequence and apply standard backpropagation.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191256"/>
            <a:ext cx="128016" cy="128016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044952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A cell state runs through the sequence with only additive interactions - an uninterrupted gradient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67912"/>
            <a:ext cx="128016" cy="128016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721608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Tokenisation: character, word, or subword (BPE / WordPiece). Subword is the modern default.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44568"/>
            <a:ext cx="128016" cy="128016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398264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CNN encoder produces a feature vector; RNN decoder generates tokens conditioned on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221224"/>
            <a:ext cx="128016" cy="128016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074920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Recurrence is inherently sequential - timestep t cannot start before t-1 finishes. No parallelism.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85216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16A1C"/>
                </a:solidFill>
                <a:latin typeface="Calibri"/>
              </a:rPr>
              <a:t>Next — Lecture 13: Attention and the Transformer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12  |  Part III - Vision Systems and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