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10896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1371600"/>
            <a:ext cx="1008857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DL-601  ·  Part IV - Attention, Generation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828800"/>
            <a:ext cx="1008857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5A6375"/>
                </a:solidFill>
                <a:latin typeface="Calibri"/>
              </a:rPr>
              <a:t>Lecture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286000"/>
            <a:ext cx="9814255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 i="0">
                <a:solidFill>
                  <a:srgbClr val="1A1F2B"/>
                </a:solidFill>
                <a:latin typeface="Calibri"/>
              </a:rPr>
              <a:t>Generative Models: Autoencoders, VAEs, GANs and Diffusion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4069080"/>
            <a:ext cx="98142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5A6375"/>
                </a:solidFill>
                <a:latin typeface="Calibri"/>
              </a:rPr>
              <a:t>Learning the distribution, not just the decision boundary.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46320"/>
            <a:ext cx="18288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5212080"/>
            <a:ext cx="10088575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300" b="0" i="0">
                <a:solidFill>
                  <a:srgbClr val="5A6375"/>
                </a:solidFill>
                <a:latin typeface="Calibri"/>
              </a:rPr>
              <a:t>Deep Learning — Foundations, Computer Vision and Production Systems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5A6375"/>
                </a:solidFill>
                <a:latin typeface="Calibri"/>
              </a:rPr>
              <a:t>Senior AI Engineer, Course Instructor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BY THE END OF THIS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783080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828800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16736" y="1746504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Contrast discriminative and generative modelling and the trade-offs between the major families.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715768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761488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16736" y="2679192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Derive the VAE evidence lower bound and implement the reparameterisation trick.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648456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3694176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16736" y="3611880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Train a GAN, recognise mode collapse, and apply the standard stabilisation techniques.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81144"/>
            <a:ext cx="384048" cy="384048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4626864"/>
            <a:ext cx="2743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4544568"/>
            <a:ext cx="1021659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Explain the forward and reverse diffusion processes and implement a minimal DDPM.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WHERE WE ARE GOING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2821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72821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The generative families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227685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2331720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44168" y="2331720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Autoencoders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2880360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935224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44168" y="2935224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Variational autoencoders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3483864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3538728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538728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Generative adversarial networks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4087368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" y="4142232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44168" y="4142232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Diffusion models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8368" y="4690872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745736"/>
            <a:ext cx="50292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7A3EA8"/>
                </a:solidFill>
                <a:latin typeface="Calibri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44168" y="4745736"/>
            <a:ext cx="10189159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0" i="0">
                <a:solidFill>
                  <a:srgbClr val="1A1F2B"/>
                </a:solidFill>
                <a:latin typeface="Calibri"/>
              </a:rPr>
              <a:t>Choosing, and the ethics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8368" y="5294376"/>
            <a:ext cx="10874959" cy="952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422392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Then: hands-on lab  →  shapes_32.npz, digits_8x8.npz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The generative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The generative families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Autoregressive (PixelCNN, GPT): exact likelihood, slow sequential sampling.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VAE: latent variable model, fast sampling, blurry samples.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GAN: sharp samples, unstable training, no likelihood.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Diffusion: high quality and stable training, at the cost of many sampling steps.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Normalising flows: exact likelihood and invertibility, with heavy architectural constraints.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Autoencoders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Autoencoders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Encoder compresses to a bottleneck; decoder reconstructs. Trained on reconstruction error.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A plain autoencoder is not generative - the latent space has no structure to sample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Useful for compression, denoising and anomaly detection via reconstruction error.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Variational autoencoders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Variational autoencoders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Encode to a distribution - a mean and a variance - rather than a point.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ELBO = reconstruction term - KL(q(z|x) || p(z)). Maximise it to bound the log-likelihood.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Reparameterisation: z = mu + sigma * eps, eps ~ N(0, I). This is what makes it differentiable.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Posterior collapse: the KL term wins, the latent is ignored. KL annealing and beta-VAE address it.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Samples are blurry because the pixel-wise Gaussian likelihood averages over plausible outputs.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Generative adversarial networks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Generative adversarial networks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Generator versus discriminator, a minimax game with a Nash equilibrium as the goal.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Non-saturating generator loss, because the original minimax form gives no gradient early 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Mode collapse: the generator finds a handful of outputs that fool the discriminator and stops there.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Stabilisers: spectral normalisation, WGAN-GP, two time-scale update rules, label smoothing.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Evaluation: FID is the standard, but it is sensitive to sample count and preprocessing.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Diffusion models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Diffusion models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Forward process: add Gaussian noise over T steps until the image is pure noise. Fixed, no learning.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73121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2573121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64561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Reverse process: a network learns to predict the noise added at each step.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3491179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3491179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82619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Training is a simple regression on the noise - remarkably stable compared to a GAN.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409236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8368" y="4409236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500676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Sampling is iterative and slow; DDIM and distillation cut the step count substantially.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" y="5327294"/>
            <a:ext cx="10874959" cy="753465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5327294"/>
            <a:ext cx="44450" cy="753465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418734"/>
            <a:ext cx="10417759" cy="6071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Classifier-free guidance trades diversity for fidelity and is what makes text-to-image work.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2606040"/>
            <a:ext cx="963137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SECTION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3017520"/>
            <a:ext cx="9631375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600" b="1" i="0">
                <a:solidFill>
                  <a:srgbClr val="FFFFFF"/>
                </a:solidFill>
                <a:latin typeface="Calibri"/>
              </a:rPr>
              <a:t>Choosing, and the ethics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LECTURE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Choosing, and the ethics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46504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Need likelihoods? Autoregressive or flows. Need speed? VAE or GAN. Need quality? Diffusion.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3185160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3185160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276600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Deepfakes, consent and provenance are engineering concerns, not only policy ones.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8368" y="4715256"/>
            <a:ext cx="10874959" cy="1365504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4715256"/>
            <a:ext cx="44450" cy="1365504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806696"/>
            <a:ext cx="10417759" cy="1219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900" b="0" i="0">
                <a:solidFill>
                  <a:srgbClr val="1A1F2B"/>
                </a:solidFill>
                <a:latin typeface="Calibri"/>
              </a:rPr>
              <a:t>Training data attribution and memorisation are unresolved. Know what your model was trained 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Hands-on lab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8368" y="1655064"/>
            <a:ext cx="10874959" cy="173736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655064"/>
            <a:ext cx="50800" cy="173736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50976" y="1856232"/>
            <a:ext cx="10289743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 i="0">
                <a:solidFill>
                  <a:srgbClr val="1A1F2B"/>
                </a:solidFill>
                <a:latin typeface="Calibri"/>
              </a:rPr>
              <a:t>Train an autoencoder and visualise its latent space; implement a VAE with the reparameterisation trick and interpolate between latent codes; train a DCGAN on shapes and deliberately induce and then fix mode collapse; implement a minimal DDPM with a small U-Net and visualise the reverse process step by step.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3666744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21408" y="3666744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notebooks/L15_Generative_Models_Autoencoders_VAEs_GANs_and.ipynb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4142232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21408" y="4142232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shapes_32.npz, digits_8x8.npz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61772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Helpers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21408" y="4617720"/>
            <a:ext cx="941191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1A1F2B"/>
                </a:solidFill>
                <a:latin typeface="Consolas"/>
              </a:rPr>
              <a:t>from dlcourse import load_shapes, train, evaluate, show_grid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DUE BEFORE THE NEXT LECTURE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Your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655064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7A3EA8"/>
                </a:solidFill>
                <a:latin typeface="Calibri"/>
              </a:rPr>
              <a:t>CORE — all 7 required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0391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1.  Autoencoder and latent space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4505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2.  VAE with reparameterisation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86207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3.  Sample and interpolate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7355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4.  beta-VAE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368503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5.  DCGAN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409651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6.  Mode collapse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079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1A1F2B"/>
                </a:solidFill>
                <a:latin typeface="Calibri"/>
              </a:rPr>
              <a:t>7.  Minimal DDPM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1968" y="165506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5A6375"/>
                </a:solidFill>
                <a:latin typeface="Calibri"/>
              </a:rPr>
              <a:t>STRETCH — 2 optional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1968" y="203911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1.  DDIM sampling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450592"/>
            <a:ext cx="49377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5A6375"/>
                </a:solidFill>
                <a:latin typeface="Calibri"/>
              </a:rPr>
              <a:t>2.  Conditional generation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5897880"/>
            <a:ext cx="10874959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A6375"/>
                </a:solidFill>
                <a:latin typeface="Calibri"/>
              </a:rPr>
              <a:t>Full instructions: tasks/Lecture_15_Tasks.md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GO DEEPER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764792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848" y="1764792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Kingma &amp; Welling (2014), Auto-Encoding Variational Bayes.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23317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2331720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Goodfellow et al. (2014), Generative Adversarial Networks.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898648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898648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Ho et al. (2020), Denoising Diffusion Probabilistic Models.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465576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" y="3465576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Radford et al. (2016), DCGAN.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4032504"/>
            <a:ext cx="365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7A3EA8"/>
                </a:solidFill>
                <a:latin typeface="Calibri"/>
              </a:rPr>
              <a:t>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" y="4032504"/>
            <a:ext cx="10463479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Ho &amp; Salimans (2022), Classifier-Free Diffusion Guidance.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502920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100" b="1" i="0">
                <a:solidFill>
                  <a:srgbClr val="7A3EA8"/>
                </a:solidFill>
                <a:latin typeface="Calibri"/>
              </a:rP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813816"/>
            <a:ext cx="10874959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A1F2B"/>
                </a:solidFill>
                <a:latin typeface="Calibri"/>
              </a:rPr>
              <a:t>What to take away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380744"/>
            <a:ext cx="1371600" cy="44450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83794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4128" y="169164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Autoregressive (PixelCNN, GPT): exact likelihood, slow sequential sampling.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2514600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2368296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Encoder compresses to a bottleneck; decoder reconstructs. Trained on reconstruction error.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" y="3191256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3044952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Encode to a distribution - a mean and a variance - rather than a point.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" y="3867912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24128" y="3721608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Generator versus discriminator, a minimax game with a Nash equilibrium as the goal.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8368" y="4544568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4398264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Forward process: add Gaussian noise over T steps until the image is pure noise. Fixed, no learning.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8" y="5221224"/>
            <a:ext cx="128016" cy="128016"/>
          </a:xfrm>
          <a:prstGeom prst="rect">
            <a:avLst/>
          </a:prstGeom>
          <a:solidFill>
            <a:srgbClr val="7A3EA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4128" y="5074920"/>
            <a:ext cx="10509199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1A1F2B"/>
                </a:solidFill>
                <a:latin typeface="Calibri"/>
              </a:rPr>
              <a:t>Need likelihoods? Autoregressive or flows. Need speed? VAE or GAN. Need quality? Diffusion.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852160"/>
            <a:ext cx="10874959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7A3EA8"/>
                </a:solidFill>
                <a:latin typeface="Calibri"/>
              </a:rPr>
              <a:t>Next — Lecture 16: Multimodal Learning and Production ML Systems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382512"/>
            <a:ext cx="10874959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A6375"/>
                </a:solidFill>
                <a:latin typeface="Calibri"/>
              </a:rPr>
              <a:t>DL-601  |  Lecture 15  |  Part IV - Attention, Generation and Production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